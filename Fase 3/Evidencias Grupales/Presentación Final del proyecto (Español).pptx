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ungee" charset="1" panose="00000000000000000000"/>
      <p:regular r:id="rId20"/>
    </p:embeddedFont>
    <p:embeddedFont>
      <p:font typeface="Questrial" charset="1" panose="02000000000000000000"/>
      <p:regular r:id="rId21"/>
    </p:embeddedFont>
    <p:embeddedFont>
      <p:font typeface="Poppins Bold" charset="1" panose="000008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8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6.png" Type="http://schemas.openxmlformats.org/officeDocument/2006/relationships/image"/><Relationship Id="rId13" Target="../media/image27.jpeg" Type="http://schemas.openxmlformats.org/officeDocument/2006/relationships/image"/><Relationship Id="rId14" Target="../media/image28.png" Type="http://schemas.openxmlformats.org/officeDocument/2006/relationships/image"/><Relationship Id="rId15" Target="../media/image29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7236" y="857737"/>
            <a:ext cx="16565336" cy="8571526"/>
            <a:chOff x="0" y="0"/>
            <a:chExt cx="4362887" cy="22575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257521"/>
            </a:xfrm>
            <a:custGeom>
              <a:avLst/>
              <a:gdLst/>
              <a:ahLst/>
              <a:cxnLst/>
              <a:rect r="r" b="b" t="t" l="l"/>
              <a:pathLst>
                <a:path h="2257521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252380"/>
                  </a:lnTo>
                  <a:cubicBezTo>
                    <a:pt x="4362887" y="2253744"/>
                    <a:pt x="4362345" y="2255052"/>
                    <a:pt x="4361381" y="2256016"/>
                  </a:cubicBezTo>
                  <a:cubicBezTo>
                    <a:pt x="4360417" y="2256980"/>
                    <a:pt x="4359110" y="2257521"/>
                    <a:pt x="4357746" y="2257521"/>
                  </a:cubicBezTo>
                  <a:lnTo>
                    <a:pt x="5141" y="2257521"/>
                  </a:lnTo>
                  <a:cubicBezTo>
                    <a:pt x="2302" y="2257521"/>
                    <a:pt x="0" y="2255220"/>
                    <a:pt x="0" y="2252380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343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7684322" y="4529169"/>
            <a:ext cx="11230619" cy="7330531"/>
          </a:xfrm>
          <a:custGeom>
            <a:avLst/>
            <a:gdLst/>
            <a:ahLst/>
            <a:cxnLst/>
            <a:rect r="r" b="b" t="t" l="l"/>
            <a:pathLst>
              <a:path h="7330531" w="11230619">
                <a:moveTo>
                  <a:pt x="0" y="0"/>
                </a:moveTo>
                <a:lnTo>
                  <a:pt x="11230619" y="0"/>
                </a:lnTo>
                <a:lnTo>
                  <a:pt x="11230619" y="7330531"/>
                </a:lnTo>
                <a:lnTo>
                  <a:pt x="0" y="7330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84509" y="-693607"/>
            <a:ext cx="10126259" cy="6609686"/>
          </a:xfrm>
          <a:custGeom>
            <a:avLst/>
            <a:gdLst/>
            <a:ahLst/>
            <a:cxnLst/>
            <a:rect r="r" b="b" t="t" l="l"/>
            <a:pathLst>
              <a:path h="6609686" w="10126259">
                <a:moveTo>
                  <a:pt x="0" y="0"/>
                </a:moveTo>
                <a:lnTo>
                  <a:pt x="10126259" y="0"/>
                </a:lnTo>
                <a:lnTo>
                  <a:pt x="10126259" y="6609686"/>
                </a:lnTo>
                <a:lnTo>
                  <a:pt x="0" y="6609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2162" y="338138"/>
            <a:ext cx="898807" cy="2019791"/>
          </a:xfrm>
          <a:custGeom>
            <a:avLst/>
            <a:gdLst/>
            <a:ahLst/>
            <a:cxnLst/>
            <a:rect r="r" b="b" t="t" l="l"/>
            <a:pathLst>
              <a:path h="2019791" w="898807">
                <a:moveTo>
                  <a:pt x="0" y="0"/>
                </a:moveTo>
                <a:lnTo>
                  <a:pt x="898807" y="0"/>
                </a:lnTo>
                <a:lnTo>
                  <a:pt x="898807" y="2019790"/>
                </a:lnTo>
                <a:lnTo>
                  <a:pt x="0" y="20197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1935342">
            <a:off x="15277174" y="6801731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483638">
            <a:off x="8424582" y="1490240"/>
            <a:ext cx="1472544" cy="1487728"/>
          </a:xfrm>
          <a:custGeom>
            <a:avLst/>
            <a:gdLst/>
            <a:ahLst/>
            <a:cxnLst/>
            <a:rect r="r" b="b" t="t" l="l"/>
            <a:pathLst>
              <a:path h="1487728" w="1472544">
                <a:moveTo>
                  <a:pt x="0" y="0"/>
                </a:moveTo>
                <a:lnTo>
                  <a:pt x="1472544" y="0"/>
                </a:lnTo>
                <a:lnTo>
                  <a:pt x="1472544" y="1487727"/>
                </a:lnTo>
                <a:lnTo>
                  <a:pt x="0" y="1487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0511" b="-8911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973510" y="4824140"/>
            <a:ext cx="12340981" cy="2183877"/>
            <a:chOff x="0" y="0"/>
            <a:chExt cx="2911740" cy="5152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11740" cy="515266"/>
            </a:xfrm>
            <a:custGeom>
              <a:avLst/>
              <a:gdLst/>
              <a:ahLst/>
              <a:cxnLst/>
              <a:rect r="r" b="b" t="t" l="l"/>
              <a:pathLst>
                <a:path h="515266" w="2911740">
                  <a:moveTo>
                    <a:pt x="7528" y="0"/>
                  </a:moveTo>
                  <a:lnTo>
                    <a:pt x="2904212" y="0"/>
                  </a:lnTo>
                  <a:cubicBezTo>
                    <a:pt x="2908370" y="0"/>
                    <a:pt x="2911740" y="3370"/>
                    <a:pt x="2911740" y="7528"/>
                  </a:cubicBezTo>
                  <a:lnTo>
                    <a:pt x="2911740" y="507738"/>
                  </a:lnTo>
                  <a:cubicBezTo>
                    <a:pt x="2911740" y="509734"/>
                    <a:pt x="2910947" y="511649"/>
                    <a:pt x="2909535" y="513061"/>
                  </a:cubicBezTo>
                  <a:cubicBezTo>
                    <a:pt x="2908123" y="514472"/>
                    <a:pt x="2906208" y="515266"/>
                    <a:pt x="2904212" y="515266"/>
                  </a:cubicBezTo>
                  <a:lnTo>
                    <a:pt x="7528" y="515266"/>
                  </a:lnTo>
                  <a:cubicBezTo>
                    <a:pt x="5531" y="515266"/>
                    <a:pt x="3617" y="514472"/>
                    <a:pt x="2205" y="513061"/>
                  </a:cubicBezTo>
                  <a:cubicBezTo>
                    <a:pt x="793" y="511649"/>
                    <a:pt x="0" y="509734"/>
                    <a:pt x="0" y="507738"/>
                  </a:cubicBezTo>
                  <a:lnTo>
                    <a:pt x="0" y="7528"/>
                  </a:lnTo>
                  <a:cubicBezTo>
                    <a:pt x="0" y="5531"/>
                    <a:pt x="793" y="3617"/>
                    <a:pt x="2205" y="2205"/>
                  </a:cubicBezTo>
                  <a:cubicBezTo>
                    <a:pt x="3617" y="793"/>
                    <a:pt x="5531" y="0"/>
                    <a:pt x="7528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911740" cy="60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02300" y="3569994"/>
            <a:ext cx="12683400" cy="89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94"/>
              </a:lnSpc>
            </a:pPr>
            <a:r>
              <a:rPr lang="en-US" sz="5481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PROYECTO INNOVADOR EN SALUD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42170" y="5002646"/>
            <a:ext cx="12237369" cy="191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50"/>
              </a:lnSpc>
            </a:pPr>
            <a:r>
              <a:rPr lang="en-US" sz="1283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ACURED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87437" y="7327963"/>
            <a:ext cx="7313127" cy="39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1"/>
              </a:lnSpc>
            </a:pPr>
            <a:r>
              <a:rPr lang="en-US" sz="2377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Proyecto Realizado por Matias Lara y Gonzalo Lara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0857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91337" y="4006250"/>
            <a:ext cx="6873141" cy="4648743"/>
          </a:xfrm>
          <a:custGeom>
            <a:avLst/>
            <a:gdLst/>
            <a:ahLst/>
            <a:cxnLst/>
            <a:rect r="r" b="b" t="t" l="l"/>
            <a:pathLst>
              <a:path h="4648743" w="6873141">
                <a:moveTo>
                  <a:pt x="0" y="0"/>
                </a:moveTo>
                <a:lnTo>
                  <a:pt x="6873141" y="0"/>
                </a:lnTo>
                <a:lnTo>
                  <a:pt x="6873141" y="4648743"/>
                </a:lnTo>
                <a:lnTo>
                  <a:pt x="0" y="464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7710" y="2379314"/>
            <a:ext cx="1423019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9"/>
              </a:lnSpc>
              <a:spcBef>
                <a:spcPct val="0"/>
              </a:spcBef>
            </a:pPr>
            <a:r>
              <a:rPr lang="en-US" sz="5633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Necesidad de </a:t>
            </a:r>
            <a:r>
              <a:rPr lang="en-US" sz="5633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Innovación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7710" y="4185710"/>
            <a:ext cx="6384417" cy="158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24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 gestión clínica manual genera errores y pérdida de información, lo que afecta la calidad del servicio. Esto evidencia la necesidad de digitalizar y centralizar los procesos.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904238" y="219173"/>
            <a:ext cx="720479" cy="1619054"/>
          </a:xfrm>
          <a:custGeom>
            <a:avLst/>
            <a:gdLst/>
            <a:ahLst/>
            <a:cxnLst/>
            <a:rect r="r" b="b" t="t" l="l"/>
            <a:pathLst>
              <a:path h="1619054" w="720479">
                <a:moveTo>
                  <a:pt x="0" y="0"/>
                </a:moveTo>
                <a:lnTo>
                  <a:pt x="720479" y="0"/>
                </a:lnTo>
                <a:lnTo>
                  <a:pt x="720479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22147">
            <a:off x="1928567" y="1283965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37710" y="6431853"/>
            <a:ext cx="6384417" cy="158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24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 transformación digital mejora la eficiencia operativa y eleva la calidad del servicio, permitiendo que los terapeutas se enfoquen en una mejor atención a sus pacientes.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0857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13796" y="3659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0847" y="2617116"/>
            <a:ext cx="9242949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5249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Propuesta de 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67195" y="5967210"/>
            <a:ext cx="5801889" cy="43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3"/>
              </a:lnSpc>
              <a:spcBef>
                <a:spcPct val="0"/>
              </a:spcBef>
            </a:pPr>
            <a:r>
              <a:rPr lang="en-US" sz="2640" spc="13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AUTOMATIZACIÓN DE PROCESOS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97603" y="5105400"/>
            <a:ext cx="5341073" cy="43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3"/>
              </a:lnSpc>
              <a:spcBef>
                <a:spcPct val="0"/>
              </a:spcBef>
            </a:pPr>
            <a:r>
              <a:rPr lang="en-US" sz="2640" spc="13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ACCESIBILIDAD GARANTIZADA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76518" y="4245091"/>
            <a:ext cx="3983243" cy="43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3"/>
              </a:lnSpc>
              <a:spcBef>
                <a:spcPct val="0"/>
              </a:spcBef>
            </a:pPr>
            <a:r>
              <a:rPr lang="en-US" sz="2640" spc="13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SEGURIDAD DE DATOS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1935342">
            <a:off x="15277174" y="6801731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222147">
            <a:off x="1928567" y="1283965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684322" y="4529169"/>
            <a:ext cx="11230619" cy="7330531"/>
          </a:xfrm>
          <a:custGeom>
            <a:avLst/>
            <a:gdLst/>
            <a:ahLst/>
            <a:cxnLst/>
            <a:rect r="r" b="b" t="t" l="l"/>
            <a:pathLst>
              <a:path h="7330531" w="11230619">
                <a:moveTo>
                  <a:pt x="0" y="0"/>
                </a:moveTo>
                <a:lnTo>
                  <a:pt x="11230619" y="0"/>
                </a:lnTo>
                <a:lnTo>
                  <a:pt x="11230619" y="7330531"/>
                </a:lnTo>
                <a:lnTo>
                  <a:pt x="0" y="73305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19346" y="3188470"/>
            <a:ext cx="15649307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72"/>
              </a:lnSpc>
            </a:pPr>
            <a:r>
              <a:rPr lang="en-US" sz="6976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OBJ</a:t>
            </a:r>
            <a:r>
              <a:rPr lang="en-US" sz="6976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ETIVO GENERAL Y ESPECÍFICOS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26900" y="6053840"/>
            <a:ext cx="10253593" cy="83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05"/>
              </a:lnSpc>
            </a:pPr>
            <a:r>
              <a:rPr lang="en-US" sz="248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 digitalización integral mejorará la gestión terapéutica y optimizará procesos a través de un enfoque innovador.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862262">
            <a:off x="2469929" y="6412406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95383">
            <a:off x="2859454" y="2486739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63359" y="3026545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02283" y="1868165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228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69905" y="2340491"/>
            <a:ext cx="8405864" cy="1582987"/>
            <a:chOff x="0" y="0"/>
            <a:chExt cx="11207818" cy="211065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207818" cy="2110650"/>
              <a:chOff x="0" y="0"/>
              <a:chExt cx="2550544" cy="48031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50544" cy="480317"/>
              </a:xfrm>
              <a:custGeom>
                <a:avLst/>
                <a:gdLst/>
                <a:ahLst/>
                <a:cxnLst/>
                <a:rect r="r" b="b" t="t" l="l"/>
                <a:pathLst>
                  <a:path h="480317" w="2550544">
                    <a:moveTo>
                      <a:pt x="39173" y="0"/>
                    </a:moveTo>
                    <a:lnTo>
                      <a:pt x="2511372" y="0"/>
                    </a:lnTo>
                    <a:cubicBezTo>
                      <a:pt x="2533006" y="0"/>
                      <a:pt x="2550544" y="17538"/>
                      <a:pt x="2550544" y="39173"/>
                    </a:cubicBezTo>
                    <a:lnTo>
                      <a:pt x="2550544" y="441144"/>
                    </a:lnTo>
                    <a:cubicBezTo>
                      <a:pt x="2550544" y="462779"/>
                      <a:pt x="2533006" y="480317"/>
                      <a:pt x="2511372" y="480317"/>
                    </a:cubicBezTo>
                    <a:lnTo>
                      <a:pt x="39173" y="480317"/>
                    </a:lnTo>
                    <a:cubicBezTo>
                      <a:pt x="17538" y="480317"/>
                      <a:pt x="0" y="462779"/>
                      <a:pt x="0" y="441144"/>
                    </a:cubicBezTo>
                    <a:lnTo>
                      <a:pt x="0" y="39173"/>
                    </a:lnTo>
                    <a:cubicBezTo>
                      <a:pt x="0" y="17538"/>
                      <a:pt x="17538" y="0"/>
                      <a:pt x="3917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2550544" cy="53746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275370" y="343185"/>
              <a:ext cx="10657078" cy="1424279"/>
              <a:chOff x="0" y="0"/>
              <a:chExt cx="2425213" cy="3241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425213" cy="324121"/>
              </a:xfrm>
              <a:custGeom>
                <a:avLst/>
                <a:gdLst/>
                <a:ahLst/>
                <a:cxnLst/>
                <a:rect r="r" b="b" t="t" l="l"/>
                <a:pathLst>
                  <a:path h="324121" w="2425213">
                    <a:moveTo>
                      <a:pt x="29427" y="0"/>
                    </a:moveTo>
                    <a:lnTo>
                      <a:pt x="2395787" y="0"/>
                    </a:lnTo>
                    <a:cubicBezTo>
                      <a:pt x="2412038" y="0"/>
                      <a:pt x="2425213" y="13175"/>
                      <a:pt x="2425213" y="29427"/>
                    </a:cubicBezTo>
                    <a:lnTo>
                      <a:pt x="2425213" y="294694"/>
                    </a:lnTo>
                    <a:cubicBezTo>
                      <a:pt x="2425213" y="310946"/>
                      <a:pt x="2412038" y="324121"/>
                      <a:pt x="2395787" y="324121"/>
                    </a:cubicBezTo>
                    <a:lnTo>
                      <a:pt x="29427" y="324121"/>
                    </a:lnTo>
                    <a:cubicBezTo>
                      <a:pt x="13175" y="324121"/>
                      <a:pt x="0" y="310946"/>
                      <a:pt x="0" y="294694"/>
                    </a:cubicBezTo>
                    <a:lnTo>
                      <a:pt x="0" y="29427"/>
                    </a:lnTo>
                    <a:cubicBezTo>
                      <a:pt x="0" y="13175"/>
                      <a:pt x="13175" y="0"/>
                      <a:pt x="29427" y="0"/>
                    </a:cubicBezTo>
                    <a:close/>
                  </a:path>
                </a:pathLst>
              </a:custGeom>
              <a:solidFill>
                <a:srgbClr val="E6E7E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2425213" cy="3812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1461" y="578115"/>
              <a:ext cx="10909799" cy="916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164"/>
                </a:lnSpc>
              </a:pPr>
              <a:r>
                <a:rPr lang="en-US" b="true" sz="434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ALCANCES Y LIMITACIONES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01039" y="5140687"/>
            <a:ext cx="3546695" cy="2274644"/>
            <a:chOff x="0" y="0"/>
            <a:chExt cx="929607" cy="596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9608" cy="596196"/>
            </a:xfrm>
            <a:custGeom>
              <a:avLst/>
              <a:gdLst/>
              <a:ahLst/>
              <a:cxnLst/>
              <a:rect r="r" b="b" t="t" l="l"/>
              <a:pathLst>
                <a:path h="596196" w="929608">
                  <a:moveTo>
                    <a:pt x="106960" y="0"/>
                  </a:moveTo>
                  <a:lnTo>
                    <a:pt x="822648" y="0"/>
                  </a:lnTo>
                  <a:cubicBezTo>
                    <a:pt x="881720" y="0"/>
                    <a:pt x="929608" y="47888"/>
                    <a:pt x="929608" y="106960"/>
                  </a:cubicBezTo>
                  <a:lnTo>
                    <a:pt x="929608" y="489236"/>
                  </a:lnTo>
                  <a:cubicBezTo>
                    <a:pt x="929608" y="548309"/>
                    <a:pt x="881720" y="596196"/>
                    <a:pt x="822648" y="596196"/>
                  </a:cubicBezTo>
                  <a:lnTo>
                    <a:pt x="106960" y="596196"/>
                  </a:lnTo>
                  <a:cubicBezTo>
                    <a:pt x="47888" y="596196"/>
                    <a:pt x="0" y="548309"/>
                    <a:pt x="0" y="489236"/>
                  </a:cubicBezTo>
                  <a:lnTo>
                    <a:pt x="0" y="106960"/>
                  </a:lnTo>
                  <a:cubicBezTo>
                    <a:pt x="0" y="47888"/>
                    <a:pt x="47888" y="0"/>
                    <a:pt x="1069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29607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35984" y="5140687"/>
            <a:ext cx="3546695" cy="2274644"/>
            <a:chOff x="0" y="0"/>
            <a:chExt cx="929607" cy="5961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9608" cy="596196"/>
            </a:xfrm>
            <a:custGeom>
              <a:avLst/>
              <a:gdLst/>
              <a:ahLst/>
              <a:cxnLst/>
              <a:rect r="r" b="b" t="t" l="l"/>
              <a:pathLst>
                <a:path h="596196" w="929608">
                  <a:moveTo>
                    <a:pt x="106960" y="0"/>
                  </a:moveTo>
                  <a:lnTo>
                    <a:pt x="822648" y="0"/>
                  </a:lnTo>
                  <a:cubicBezTo>
                    <a:pt x="881720" y="0"/>
                    <a:pt x="929608" y="47888"/>
                    <a:pt x="929608" y="106960"/>
                  </a:cubicBezTo>
                  <a:lnTo>
                    <a:pt x="929608" y="489236"/>
                  </a:lnTo>
                  <a:cubicBezTo>
                    <a:pt x="929608" y="548309"/>
                    <a:pt x="881720" y="596196"/>
                    <a:pt x="822648" y="596196"/>
                  </a:cubicBezTo>
                  <a:lnTo>
                    <a:pt x="106960" y="596196"/>
                  </a:lnTo>
                  <a:cubicBezTo>
                    <a:pt x="47888" y="596196"/>
                    <a:pt x="0" y="548309"/>
                    <a:pt x="0" y="489236"/>
                  </a:cubicBezTo>
                  <a:lnTo>
                    <a:pt x="0" y="106960"/>
                  </a:lnTo>
                  <a:cubicBezTo>
                    <a:pt x="0" y="47888"/>
                    <a:pt x="47888" y="0"/>
                    <a:pt x="1069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29607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72837" y="5068516"/>
            <a:ext cx="3546695" cy="2274644"/>
            <a:chOff x="0" y="0"/>
            <a:chExt cx="929607" cy="5961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9608" cy="596196"/>
            </a:xfrm>
            <a:custGeom>
              <a:avLst/>
              <a:gdLst/>
              <a:ahLst/>
              <a:cxnLst/>
              <a:rect r="r" b="b" t="t" l="l"/>
              <a:pathLst>
                <a:path h="596196" w="929608">
                  <a:moveTo>
                    <a:pt x="106960" y="0"/>
                  </a:moveTo>
                  <a:lnTo>
                    <a:pt x="822648" y="0"/>
                  </a:lnTo>
                  <a:cubicBezTo>
                    <a:pt x="881720" y="0"/>
                    <a:pt x="929608" y="47888"/>
                    <a:pt x="929608" y="106960"/>
                  </a:cubicBezTo>
                  <a:lnTo>
                    <a:pt x="929608" y="489236"/>
                  </a:lnTo>
                  <a:cubicBezTo>
                    <a:pt x="929608" y="548309"/>
                    <a:pt x="881720" y="596196"/>
                    <a:pt x="822648" y="596196"/>
                  </a:cubicBezTo>
                  <a:lnTo>
                    <a:pt x="106960" y="596196"/>
                  </a:lnTo>
                  <a:cubicBezTo>
                    <a:pt x="47888" y="596196"/>
                    <a:pt x="0" y="548309"/>
                    <a:pt x="0" y="489236"/>
                  </a:cubicBezTo>
                  <a:lnTo>
                    <a:pt x="0" y="106960"/>
                  </a:lnTo>
                  <a:cubicBezTo>
                    <a:pt x="0" y="47888"/>
                    <a:pt x="47888" y="0"/>
                    <a:pt x="1069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29607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09691" y="5068516"/>
            <a:ext cx="3546695" cy="2274644"/>
            <a:chOff x="0" y="0"/>
            <a:chExt cx="929607" cy="5961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9608" cy="596196"/>
            </a:xfrm>
            <a:custGeom>
              <a:avLst/>
              <a:gdLst/>
              <a:ahLst/>
              <a:cxnLst/>
              <a:rect r="r" b="b" t="t" l="l"/>
              <a:pathLst>
                <a:path h="596196" w="929608">
                  <a:moveTo>
                    <a:pt x="106960" y="0"/>
                  </a:moveTo>
                  <a:lnTo>
                    <a:pt x="822648" y="0"/>
                  </a:lnTo>
                  <a:cubicBezTo>
                    <a:pt x="881720" y="0"/>
                    <a:pt x="929608" y="47888"/>
                    <a:pt x="929608" y="106960"/>
                  </a:cubicBezTo>
                  <a:lnTo>
                    <a:pt x="929608" y="489236"/>
                  </a:lnTo>
                  <a:cubicBezTo>
                    <a:pt x="929608" y="548309"/>
                    <a:pt x="881720" y="596196"/>
                    <a:pt x="822648" y="596196"/>
                  </a:cubicBezTo>
                  <a:lnTo>
                    <a:pt x="106960" y="596196"/>
                  </a:lnTo>
                  <a:cubicBezTo>
                    <a:pt x="47888" y="596196"/>
                    <a:pt x="0" y="548309"/>
                    <a:pt x="0" y="489236"/>
                  </a:cubicBezTo>
                  <a:lnTo>
                    <a:pt x="0" y="106960"/>
                  </a:lnTo>
                  <a:cubicBezTo>
                    <a:pt x="0" y="47888"/>
                    <a:pt x="47888" y="0"/>
                    <a:pt x="1069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29607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88382" y="5288117"/>
            <a:ext cx="3241898" cy="1979783"/>
            <a:chOff x="0" y="0"/>
            <a:chExt cx="849719" cy="5189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9719" cy="518912"/>
            </a:xfrm>
            <a:custGeom>
              <a:avLst/>
              <a:gdLst/>
              <a:ahLst/>
              <a:cxnLst/>
              <a:rect r="r" b="b" t="t" l="l"/>
              <a:pathLst>
                <a:path h="518912" w="849719">
                  <a:moveTo>
                    <a:pt x="83583" y="0"/>
                  </a:moveTo>
                  <a:lnTo>
                    <a:pt x="766136" y="0"/>
                  </a:lnTo>
                  <a:cubicBezTo>
                    <a:pt x="812297" y="0"/>
                    <a:pt x="849719" y="37421"/>
                    <a:pt x="849719" y="83583"/>
                  </a:cubicBezTo>
                  <a:lnTo>
                    <a:pt x="849719" y="435329"/>
                  </a:lnTo>
                  <a:cubicBezTo>
                    <a:pt x="849719" y="457496"/>
                    <a:pt x="840913" y="478756"/>
                    <a:pt x="825238" y="494431"/>
                  </a:cubicBezTo>
                  <a:cubicBezTo>
                    <a:pt x="809563" y="510106"/>
                    <a:pt x="788303" y="518912"/>
                    <a:pt x="766136" y="518912"/>
                  </a:cubicBezTo>
                  <a:lnTo>
                    <a:pt x="83583" y="518912"/>
                  </a:lnTo>
                  <a:cubicBezTo>
                    <a:pt x="37421" y="518912"/>
                    <a:pt x="0" y="481490"/>
                    <a:pt x="0" y="435329"/>
                  </a:cubicBezTo>
                  <a:lnTo>
                    <a:pt x="0" y="83583"/>
                  </a:lnTo>
                  <a:cubicBezTo>
                    <a:pt x="0" y="37421"/>
                    <a:pt x="37421" y="0"/>
                    <a:pt x="83583" y="0"/>
                  </a:cubicBezTo>
                  <a:close/>
                </a:path>
              </a:pathLst>
            </a:custGeom>
            <a:solidFill>
              <a:srgbClr val="FF31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49719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25236" y="5215947"/>
            <a:ext cx="3241898" cy="1979783"/>
            <a:chOff x="0" y="0"/>
            <a:chExt cx="849719" cy="5189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9719" cy="518912"/>
            </a:xfrm>
            <a:custGeom>
              <a:avLst/>
              <a:gdLst/>
              <a:ahLst/>
              <a:cxnLst/>
              <a:rect r="r" b="b" t="t" l="l"/>
              <a:pathLst>
                <a:path h="518912" w="849719">
                  <a:moveTo>
                    <a:pt x="83583" y="0"/>
                  </a:moveTo>
                  <a:lnTo>
                    <a:pt x="766136" y="0"/>
                  </a:lnTo>
                  <a:cubicBezTo>
                    <a:pt x="812297" y="0"/>
                    <a:pt x="849719" y="37421"/>
                    <a:pt x="849719" y="83583"/>
                  </a:cubicBezTo>
                  <a:lnTo>
                    <a:pt x="849719" y="435329"/>
                  </a:lnTo>
                  <a:cubicBezTo>
                    <a:pt x="849719" y="457496"/>
                    <a:pt x="840913" y="478756"/>
                    <a:pt x="825238" y="494431"/>
                  </a:cubicBezTo>
                  <a:cubicBezTo>
                    <a:pt x="809563" y="510106"/>
                    <a:pt x="788303" y="518912"/>
                    <a:pt x="766136" y="518912"/>
                  </a:cubicBezTo>
                  <a:lnTo>
                    <a:pt x="83583" y="518912"/>
                  </a:lnTo>
                  <a:cubicBezTo>
                    <a:pt x="37421" y="518912"/>
                    <a:pt x="0" y="481490"/>
                    <a:pt x="0" y="435329"/>
                  </a:cubicBezTo>
                  <a:lnTo>
                    <a:pt x="0" y="83583"/>
                  </a:lnTo>
                  <a:cubicBezTo>
                    <a:pt x="0" y="37421"/>
                    <a:pt x="37421" y="0"/>
                    <a:pt x="83583" y="0"/>
                  </a:cubicBezTo>
                  <a:close/>
                </a:path>
              </a:pathLst>
            </a:custGeom>
            <a:solidFill>
              <a:srgbClr val="4FC1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49719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162089" y="5215947"/>
            <a:ext cx="3241898" cy="1979783"/>
            <a:chOff x="0" y="0"/>
            <a:chExt cx="849719" cy="51891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9719" cy="518912"/>
            </a:xfrm>
            <a:custGeom>
              <a:avLst/>
              <a:gdLst/>
              <a:ahLst/>
              <a:cxnLst/>
              <a:rect r="r" b="b" t="t" l="l"/>
              <a:pathLst>
                <a:path h="518912" w="849719">
                  <a:moveTo>
                    <a:pt x="83583" y="0"/>
                  </a:moveTo>
                  <a:lnTo>
                    <a:pt x="766136" y="0"/>
                  </a:lnTo>
                  <a:cubicBezTo>
                    <a:pt x="812297" y="0"/>
                    <a:pt x="849719" y="37421"/>
                    <a:pt x="849719" y="83583"/>
                  </a:cubicBezTo>
                  <a:lnTo>
                    <a:pt x="849719" y="435329"/>
                  </a:lnTo>
                  <a:cubicBezTo>
                    <a:pt x="849719" y="457496"/>
                    <a:pt x="840913" y="478756"/>
                    <a:pt x="825238" y="494431"/>
                  </a:cubicBezTo>
                  <a:cubicBezTo>
                    <a:pt x="809563" y="510106"/>
                    <a:pt x="788303" y="518912"/>
                    <a:pt x="766136" y="518912"/>
                  </a:cubicBezTo>
                  <a:lnTo>
                    <a:pt x="83583" y="518912"/>
                  </a:lnTo>
                  <a:cubicBezTo>
                    <a:pt x="37421" y="518912"/>
                    <a:pt x="0" y="481490"/>
                    <a:pt x="0" y="435329"/>
                  </a:cubicBezTo>
                  <a:lnTo>
                    <a:pt x="0" y="83583"/>
                  </a:lnTo>
                  <a:cubicBezTo>
                    <a:pt x="0" y="37421"/>
                    <a:pt x="37421" y="0"/>
                    <a:pt x="83583" y="0"/>
                  </a:cubicBezTo>
                  <a:close/>
                </a:path>
              </a:pathLst>
            </a:custGeom>
            <a:solidFill>
              <a:srgbClr val="FF31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49719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51186" y="5288117"/>
            <a:ext cx="3241898" cy="1979783"/>
            <a:chOff x="0" y="0"/>
            <a:chExt cx="849719" cy="5189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9719" cy="518912"/>
            </a:xfrm>
            <a:custGeom>
              <a:avLst/>
              <a:gdLst/>
              <a:ahLst/>
              <a:cxnLst/>
              <a:rect r="r" b="b" t="t" l="l"/>
              <a:pathLst>
                <a:path h="518912" w="849719">
                  <a:moveTo>
                    <a:pt x="83583" y="0"/>
                  </a:moveTo>
                  <a:lnTo>
                    <a:pt x="766136" y="0"/>
                  </a:lnTo>
                  <a:cubicBezTo>
                    <a:pt x="812297" y="0"/>
                    <a:pt x="849719" y="37421"/>
                    <a:pt x="849719" y="83583"/>
                  </a:cubicBezTo>
                  <a:lnTo>
                    <a:pt x="849719" y="435329"/>
                  </a:lnTo>
                  <a:cubicBezTo>
                    <a:pt x="849719" y="457496"/>
                    <a:pt x="840913" y="478756"/>
                    <a:pt x="825238" y="494431"/>
                  </a:cubicBezTo>
                  <a:cubicBezTo>
                    <a:pt x="809563" y="510106"/>
                    <a:pt x="788303" y="518912"/>
                    <a:pt x="766136" y="518912"/>
                  </a:cubicBezTo>
                  <a:lnTo>
                    <a:pt x="83583" y="518912"/>
                  </a:lnTo>
                  <a:cubicBezTo>
                    <a:pt x="37421" y="518912"/>
                    <a:pt x="0" y="481490"/>
                    <a:pt x="0" y="435329"/>
                  </a:cubicBezTo>
                  <a:lnTo>
                    <a:pt x="0" y="83583"/>
                  </a:lnTo>
                  <a:cubicBezTo>
                    <a:pt x="0" y="37421"/>
                    <a:pt x="37421" y="0"/>
                    <a:pt x="83583" y="0"/>
                  </a:cubicBezTo>
                  <a:close/>
                </a:path>
              </a:pathLst>
            </a:custGeom>
            <a:solidFill>
              <a:srgbClr val="4FC1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49719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08806" y="5665480"/>
            <a:ext cx="3131162" cy="1312376"/>
            <a:chOff x="0" y="0"/>
            <a:chExt cx="4174883" cy="1749835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177855" y="534503"/>
              <a:ext cx="3819174" cy="1215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50"/>
                </a:lnSpc>
              </a:pPr>
              <a:r>
                <a:rPr lang="en-US" sz="178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</a:t>
              </a:r>
              <a:r>
                <a:rPr lang="en-US" sz="178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estión eficiente de información de pacientes.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-19050"/>
              <a:ext cx="4174883" cy="441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479"/>
                </a:lnSpc>
              </a:pPr>
              <a:r>
                <a:rPr lang="en-US" b="true" sz="208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PACIENTES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743750" y="5513080"/>
            <a:ext cx="3131162" cy="1617176"/>
            <a:chOff x="0" y="0"/>
            <a:chExt cx="4174883" cy="2156235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177855" y="534503"/>
              <a:ext cx="3819174" cy="16217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50"/>
                </a:lnSpc>
              </a:pPr>
              <a:r>
                <a:rPr lang="en-US" sz="178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</a:t>
              </a:r>
              <a:r>
                <a:rPr lang="en-US" sz="178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igitalización de registros clínicos, mejorando accesibilidad.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-19050"/>
              <a:ext cx="4174883" cy="441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479"/>
                </a:lnSpc>
              </a:pPr>
              <a:r>
                <a:rPr lang="en-US" b="true" sz="208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FICHAS CLÍNICAS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80604" y="5593309"/>
            <a:ext cx="3131162" cy="1312376"/>
            <a:chOff x="0" y="0"/>
            <a:chExt cx="4174883" cy="1749835"/>
          </a:xfrm>
        </p:grpSpPr>
        <p:sp>
          <p:nvSpPr>
            <p:cNvPr name="TextBox 44" id="44"/>
            <p:cNvSpPr txBox="true"/>
            <p:nvPr/>
          </p:nvSpPr>
          <p:spPr>
            <a:xfrm rot="0">
              <a:off x="177855" y="534503"/>
              <a:ext cx="3819174" cy="12153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50"/>
                </a:lnSpc>
              </a:pPr>
              <a:r>
                <a:rPr lang="en-US" sz="178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</a:t>
              </a:r>
              <a:r>
                <a:rPr lang="en-US" sz="178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ptimización en la programación y gestión de citas.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0" y="-19050"/>
              <a:ext cx="4174883" cy="441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479"/>
                </a:lnSpc>
              </a:pPr>
              <a:r>
                <a:rPr lang="en-US" b="true" sz="208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CITAS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217457" y="5745709"/>
            <a:ext cx="3131162" cy="1007576"/>
            <a:chOff x="0" y="0"/>
            <a:chExt cx="4174883" cy="1343435"/>
          </a:xfrm>
        </p:grpSpPr>
        <p:sp>
          <p:nvSpPr>
            <p:cNvPr name="TextBox 47" id="47"/>
            <p:cNvSpPr txBox="true"/>
            <p:nvPr/>
          </p:nvSpPr>
          <p:spPr>
            <a:xfrm rot="0">
              <a:off x="177855" y="534503"/>
              <a:ext cx="3819174" cy="8089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450"/>
                </a:lnSpc>
              </a:pPr>
              <a:r>
                <a:rPr lang="en-US" sz="178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</a:t>
              </a:r>
              <a:r>
                <a:rPr lang="en-US" sz="1788" strike="noStrike" u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eneración de informes precisos y actualizados.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0" y="-19050"/>
              <a:ext cx="4174883" cy="4414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2479"/>
                </a:lnSpc>
              </a:pPr>
              <a:r>
                <a:rPr lang="en-US" b="true" sz="208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REPORTES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flipH="true" flipV="true">
            <a:off x="9272837" y="3923479"/>
            <a:ext cx="1773347" cy="11450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 flipV="true">
            <a:off x="9272837" y="3923479"/>
            <a:ext cx="5510201" cy="11450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V="true">
            <a:off x="7309331" y="3923479"/>
            <a:ext cx="1963506" cy="12172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3574387" y="3923479"/>
            <a:ext cx="5698451" cy="121720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33225" y="3366605"/>
            <a:ext cx="5791737" cy="5254685"/>
          </a:xfrm>
          <a:custGeom>
            <a:avLst/>
            <a:gdLst/>
            <a:ahLst/>
            <a:cxnLst/>
            <a:rect r="r" b="b" t="t" l="l"/>
            <a:pathLst>
              <a:path h="5254685" w="5791737">
                <a:moveTo>
                  <a:pt x="0" y="0"/>
                </a:moveTo>
                <a:lnTo>
                  <a:pt x="5791737" y="0"/>
                </a:lnTo>
                <a:lnTo>
                  <a:pt x="5791737" y="5254685"/>
                </a:lnTo>
                <a:lnTo>
                  <a:pt x="0" y="52546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2909" y="1748086"/>
            <a:ext cx="16962182" cy="118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0"/>
              </a:lnSpc>
            </a:pPr>
            <a:r>
              <a:rPr lang="en-US" sz="7079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M</a:t>
            </a:r>
            <a:r>
              <a:rPr lang="en-US" sz="7079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ETODOLOGÍA EN CASCADA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92453" y="7153272"/>
            <a:ext cx="4718806" cy="166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</a:t>
            </a:r>
            <a:r>
              <a:rPr lang="en-US" sz="19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 enfoque lineal ayuda a evitar problemas de integración y a garantizar la calidad del producto final, resultando en un proceso más efectivo y organizado.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92453" y="3712029"/>
            <a:ext cx="4564069" cy="333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La metodología en cascada es un modelo estructurado que permite desarrollar proyectos de manera ordenada. Esta técnica facilita la planificación y ejecución de fases como análisis, diseño, implementación, pruebas y documentación, asegurando así que todos los requisitos sean cumplidos de forma eficiente y controlada.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862262">
            <a:off x="2469929" y="6412406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95383">
            <a:off x="1594286" y="1141209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2" y="0"/>
                </a:lnTo>
                <a:lnTo>
                  <a:pt x="1427632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90511" b="-8911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79248" y="4536444"/>
            <a:ext cx="1640995" cy="1640995"/>
            <a:chOff x="0" y="0"/>
            <a:chExt cx="2187994" cy="218799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187994" cy="2187994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76296" y="176296"/>
              <a:ext cx="1835401" cy="183540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555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AutoShape 12" id="12"/>
          <p:cNvSpPr/>
          <p:nvPr/>
        </p:nvSpPr>
        <p:spPr>
          <a:xfrm>
            <a:off x="3878511" y="3687136"/>
            <a:ext cx="498672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144000" y="2655338"/>
            <a:ext cx="0" cy="1031798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607805" y="3965901"/>
            <a:ext cx="0" cy="752475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3599746" y="3965901"/>
            <a:ext cx="0" cy="570542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9144000" y="3965901"/>
            <a:ext cx="0" cy="649694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3320981" y="3408371"/>
            <a:ext cx="557530" cy="557530"/>
            <a:chOff x="0" y="0"/>
            <a:chExt cx="743373" cy="74337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43373" cy="74337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8870" lIns="18870" bIns="18870" rIns="18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3893" y="93893"/>
              <a:ext cx="555588" cy="55558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0555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8870" lIns="18870" bIns="18870" rIns="18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8865235" y="3408371"/>
            <a:ext cx="557530" cy="557530"/>
            <a:chOff x="0" y="0"/>
            <a:chExt cx="743373" cy="74337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743373" cy="74337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8870" lIns="18870" bIns="18870" rIns="18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93893" y="93893"/>
              <a:ext cx="555588" cy="55558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8870" lIns="18870" bIns="18870" rIns="18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14329040" y="3408371"/>
            <a:ext cx="557530" cy="557530"/>
            <a:chOff x="0" y="0"/>
            <a:chExt cx="743373" cy="743373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43373" cy="743373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8870" lIns="18870" bIns="18870" rIns="18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3893" y="93893"/>
              <a:ext cx="555588" cy="555588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C1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18870" lIns="18870" bIns="18870" rIns="1887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323502" y="4615595"/>
            <a:ext cx="1640995" cy="1640995"/>
            <a:chOff x="0" y="0"/>
            <a:chExt cx="2187994" cy="218799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187994" cy="2187994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76296" y="176296"/>
              <a:ext cx="1835401" cy="1835401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CE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3787307" y="4718376"/>
            <a:ext cx="1640995" cy="1640995"/>
            <a:chOff x="0" y="0"/>
            <a:chExt cx="2187994" cy="2187994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187994" cy="2187994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76296" y="176296"/>
              <a:ext cx="1835401" cy="1835401"/>
              <a:chOff x="0" y="0"/>
              <a:chExt cx="812800" cy="8128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C1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3401430" y="1370232"/>
            <a:ext cx="11485139" cy="1285106"/>
            <a:chOff x="0" y="0"/>
            <a:chExt cx="15313519" cy="1713475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15313519" cy="1713475"/>
              <a:chOff x="0" y="0"/>
              <a:chExt cx="3632042" cy="4064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363204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632042">
                    <a:moveTo>
                      <a:pt x="27509" y="0"/>
                    </a:moveTo>
                    <a:lnTo>
                      <a:pt x="3604534" y="0"/>
                    </a:lnTo>
                    <a:cubicBezTo>
                      <a:pt x="3611830" y="0"/>
                      <a:pt x="3618826" y="2898"/>
                      <a:pt x="3623985" y="8057"/>
                    </a:cubicBezTo>
                    <a:cubicBezTo>
                      <a:pt x="3629144" y="13216"/>
                      <a:pt x="3632042" y="20213"/>
                      <a:pt x="3632042" y="27509"/>
                    </a:cubicBezTo>
                    <a:lnTo>
                      <a:pt x="3632042" y="378891"/>
                    </a:lnTo>
                    <a:cubicBezTo>
                      <a:pt x="3632042" y="386187"/>
                      <a:pt x="3629144" y="393184"/>
                      <a:pt x="3623985" y="398343"/>
                    </a:cubicBezTo>
                    <a:cubicBezTo>
                      <a:pt x="3618826" y="403502"/>
                      <a:pt x="3611830" y="406400"/>
                      <a:pt x="3604534" y="406400"/>
                    </a:cubicBezTo>
                    <a:lnTo>
                      <a:pt x="27509" y="406400"/>
                    </a:lnTo>
                    <a:cubicBezTo>
                      <a:pt x="20213" y="406400"/>
                      <a:pt x="13216" y="403502"/>
                      <a:pt x="8057" y="398343"/>
                    </a:cubicBezTo>
                    <a:cubicBezTo>
                      <a:pt x="2898" y="393184"/>
                      <a:pt x="0" y="386187"/>
                      <a:pt x="0" y="378891"/>
                    </a:cubicBezTo>
                    <a:lnTo>
                      <a:pt x="0" y="27509"/>
                    </a:lnTo>
                    <a:cubicBezTo>
                      <a:pt x="0" y="20213"/>
                      <a:pt x="2898" y="13216"/>
                      <a:pt x="8057" y="8057"/>
                    </a:cubicBezTo>
                    <a:cubicBezTo>
                      <a:pt x="13216" y="2898"/>
                      <a:pt x="20213" y="0"/>
                      <a:pt x="2750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57150"/>
                <a:ext cx="3632042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213909" y="173454"/>
              <a:ext cx="14885701" cy="1366567"/>
              <a:chOff x="0" y="0"/>
              <a:chExt cx="3530573" cy="32412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3530573" cy="324121"/>
              </a:xfrm>
              <a:custGeom>
                <a:avLst/>
                <a:gdLst/>
                <a:ahLst/>
                <a:cxnLst/>
                <a:rect r="r" b="b" t="t" l="l"/>
                <a:pathLst>
                  <a:path h="324121" w="3530573">
                    <a:moveTo>
                      <a:pt x="20214" y="0"/>
                    </a:moveTo>
                    <a:lnTo>
                      <a:pt x="3510359" y="0"/>
                    </a:lnTo>
                    <a:cubicBezTo>
                      <a:pt x="3521523" y="0"/>
                      <a:pt x="3530573" y="9050"/>
                      <a:pt x="3530573" y="20214"/>
                    </a:cubicBezTo>
                    <a:lnTo>
                      <a:pt x="3530573" y="303907"/>
                    </a:lnTo>
                    <a:cubicBezTo>
                      <a:pt x="3530573" y="315071"/>
                      <a:pt x="3521523" y="324121"/>
                      <a:pt x="3510359" y="324121"/>
                    </a:cubicBezTo>
                    <a:lnTo>
                      <a:pt x="20214" y="324121"/>
                    </a:lnTo>
                    <a:cubicBezTo>
                      <a:pt x="9050" y="324121"/>
                      <a:pt x="0" y="315071"/>
                      <a:pt x="0" y="303907"/>
                    </a:cubicBezTo>
                    <a:lnTo>
                      <a:pt x="0" y="20214"/>
                    </a:lnTo>
                    <a:cubicBezTo>
                      <a:pt x="0" y="9050"/>
                      <a:pt x="9050" y="0"/>
                      <a:pt x="20214" y="0"/>
                    </a:cubicBezTo>
                    <a:close/>
                  </a:path>
                </a:pathLst>
              </a:custGeom>
              <a:solidFill>
                <a:srgbClr val="E6E7E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57150"/>
                <a:ext cx="3530573" cy="3812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193282" y="397320"/>
              <a:ext cx="14906328" cy="880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4955"/>
                </a:lnSpc>
              </a:pPr>
              <a:r>
                <a:rPr lang="en-US" b="true" sz="4164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CRONOGRAMA DEL PROYECTO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>
            <a:off x="9422765" y="3687136"/>
            <a:ext cx="490627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7086600" y="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2155661" y="6359371"/>
            <a:ext cx="2888171" cy="2950100"/>
            <a:chOff x="0" y="0"/>
            <a:chExt cx="3850894" cy="3933466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0" y="9525"/>
              <a:ext cx="3850894" cy="523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4"/>
                </a:lnSpc>
                <a:spcBef>
                  <a:spcPct val="0"/>
                </a:spcBef>
              </a:pPr>
              <a:r>
                <a:rPr lang="en-US" b="true" sz="266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Requerimientos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0" y="895315"/>
              <a:ext cx="3850894" cy="3038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9619" indent="-179810" lvl="1">
                <a:lnSpc>
                  <a:spcPts val="2281"/>
                </a:lnSpc>
                <a:buFont typeface="Arial"/>
                <a:buChar char="•"/>
              </a:pPr>
              <a:r>
                <a:rPr lang="en-US" sz="166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Levantamiento de requerimientos</a:t>
              </a:r>
            </a:p>
            <a:p>
              <a:pPr algn="l" marL="359619" indent="-179810" lvl="1">
                <a:lnSpc>
                  <a:spcPts val="2281"/>
                </a:lnSpc>
                <a:buFont typeface="Arial"/>
                <a:buChar char="•"/>
              </a:pPr>
              <a:r>
                <a:rPr lang="en-US" sz="166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Definición del alcance</a:t>
              </a:r>
            </a:p>
            <a:p>
              <a:pPr algn="l" marL="359619" indent="-179810" lvl="1">
                <a:lnSpc>
                  <a:spcPts val="2281"/>
                </a:lnSpc>
                <a:buFont typeface="Arial"/>
                <a:buChar char="•"/>
              </a:pPr>
              <a:r>
                <a:rPr lang="en-US" sz="166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ERS y documentación base</a:t>
              </a:r>
            </a:p>
            <a:p>
              <a:pPr algn="l" marL="359619" indent="-179810" lvl="1">
                <a:lnSpc>
                  <a:spcPts val="2281"/>
                </a:lnSpc>
                <a:buFont typeface="Arial"/>
                <a:buChar char="•"/>
              </a:pPr>
              <a:r>
                <a:rPr lang="en-US" sz="166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Diagramas ERD y UML</a:t>
              </a:r>
            </a:p>
            <a:p>
              <a:pPr algn="l" marL="359619" indent="-179810" lvl="1">
                <a:lnSpc>
                  <a:spcPts val="2281"/>
                </a:lnSpc>
                <a:buFont typeface="Arial"/>
                <a:buChar char="•"/>
              </a:pPr>
              <a:r>
                <a:rPr lang="en-US" sz="166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Prototipos en Figma</a:t>
              </a:r>
            </a:p>
            <a:p>
              <a:pPr algn="l" marL="0" indent="0" lvl="0">
                <a:lnSpc>
                  <a:spcPts val="2281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39945" y="6393531"/>
            <a:ext cx="3008110" cy="2774994"/>
            <a:chOff x="0" y="0"/>
            <a:chExt cx="4010814" cy="3699992"/>
          </a:xfrm>
        </p:grpSpPr>
        <p:sp>
          <p:nvSpPr>
            <p:cNvPr name="TextBox 66" id="66"/>
            <p:cNvSpPr txBox="true"/>
            <p:nvPr/>
          </p:nvSpPr>
          <p:spPr>
            <a:xfrm rot="0">
              <a:off x="0" y="9525"/>
              <a:ext cx="4010814" cy="54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2"/>
                </a:lnSpc>
                <a:spcBef>
                  <a:spcPct val="0"/>
                </a:spcBef>
              </a:pPr>
              <a:r>
                <a:rPr lang="en-US" b="true" sz="277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Desarrollo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0" y="934078"/>
              <a:ext cx="4010814" cy="2765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74553" indent="-187277" lvl="1">
                <a:lnSpc>
                  <a:spcPts val="2376"/>
                </a:lnSpc>
                <a:buFont typeface="Arial"/>
                <a:buChar char="•"/>
              </a:pPr>
              <a:r>
                <a:rPr lang="en-US" sz="17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Desarrollo frontend</a:t>
              </a:r>
            </a:p>
            <a:p>
              <a:pPr algn="l" marL="374553" indent="-187277" lvl="1">
                <a:lnSpc>
                  <a:spcPts val="2376"/>
                </a:lnSpc>
                <a:buFont typeface="Arial"/>
                <a:buChar char="•"/>
              </a:pPr>
              <a:r>
                <a:rPr lang="en-US" sz="17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Desarrollo backend</a:t>
              </a:r>
            </a:p>
            <a:p>
              <a:pPr algn="l" marL="374553" indent="-187277" lvl="1">
                <a:lnSpc>
                  <a:spcPts val="2376"/>
                </a:lnSpc>
                <a:buFont typeface="Arial"/>
                <a:buChar char="•"/>
              </a:pPr>
              <a:r>
                <a:rPr lang="en-US" sz="17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Integración completa del sistema</a:t>
              </a:r>
            </a:p>
            <a:p>
              <a:pPr algn="l" marL="374553" indent="-187277" lvl="1">
                <a:lnSpc>
                  <a:spcPts val="2376"/>
                </a:lnSpc>
                <a:buFont typeface="Arial"/>
                <a:buChar char="•"/>
              </a:pPr>
              <a:r>
                <a:rPr lang="en-US" sz="17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Plataforma funcional</a:t>
              </a:r>
            </a:p>
            <a:p>
              <a:pPr algn="l" marL="374553" indent="-187277" lvl="1">
                <a:lnSpc>
                  <a:spcPts val="2376"/>
                </a:lnSpc>
                <a:buFont typeface="Arial"/>
                <a:buChar char="•"/>
              </a:pPr>
              <a:r>
                <a:rPr lang="en-US" sz="17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Ejecución de pruebas</a:t>
              </a:r>
            </a:p>
            <a:p>
              <a:pPr algn="l" marL="0" indent="0" lvl="0">
                <a:lnSpc>
                  <a:spcPts val="2376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056148" y="6393531"/>
            <a:ext cx="3103313" cy="2555783"/>
            <a:chOff x="0" y="0"/>
            <a:chExt cx="4137751" cy="3407711"/>
          </a:xfrm>
        </p:grpSpPr>
        <p:sp>
          <p:nvSpPr>
            <p:cNvPr name="TextBox 69" id="69"/>
            <p:cNvSpPr txBox="true"/>
            <p:nvPr/>
          </p:nvSpPr>
          <p:spPr>
            <a:xfrm rot="0">
              <a:off x="0" y="19050"/>
              <a:ext cx="4137751" cy="553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5"/>
                </a:lnSpc>
                <a:spcBef>
                  <a:spcPct val="0"/>
                </a:spcBef>
              </a:pPr>
              <a:r>
                <a:rPr lang="en-US" b="true" sz="2863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Proyecto final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0" y="955321"/>
              <a:ext cx="4137751" cy="2452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86408" indent="-193204" lvl="1">
                <a:lnSpc>
                  <a:spcPts val="2451"/>
                </a:lnSpc>
                <a:buFont typeface="Arial"/>
                <a:buChar char="•"/>
              </a:pPr>
              <a:r>
                <a:rPr lang="en-US" sz="178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Documentación técnica</a:t>
              </a:r>
            </a:p>
            <a:p>
              <a:pPr algn="l" marL="386408" indent="-193204" lvl="1">
                <a:lnSpc>
                  <a:spcPts val="2451"/>
                </a:lnSpc>
                <a:buFont typeface="Arial"/>
                <a:buChar char="•"/>
              </a:pPr>
              <a:r>
                <a:rPr lang="en-US" sz="178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Informe final</a:t>
              </a:r>
            </a:p>
            <a:p>
              <a:pPr algn="l" marL="386408" indent="-193204" lvl="1">
                <a:lnSpc>
                  <a:spcPts val="2451"/>
                </a:lnSpc>
                <a:buFont typeface="Arial"/>
                <a:buChar char="•"/>
              </a:pPr>
              <a:r>
                <a:rPr lang="en-US" sz="178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Preparación</a:t>
              </a:r>
              <a:r>
                <a:rPr lang="en-US" sz="178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para presentación</a:t>
              </a:r>
            </a:p>
            <a:p>
              <a:pPr algn="l" marL="0" indent="0" lvl="0">
                <a:lnSpc>
                  <a:spcPts val="2451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3011004" y="4792703"/>
            <a:ext cx="1177483" cy="109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241"/>
              </a:lnSpc>
            </a:pPr>
            <a:r>
              <a:rPr lang="en-US" b="true" sz="35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S1 - S5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555258" y="4891031"/>
            <a:ext cx="1177483" cy="10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03"/>
              </a:lnSpc>
            </a:pPr>
            <a:r>
              <a:rPr lang="en-US" b="true" sz="33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S6 - S15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019063" y="5051153"/>
            <a:ext cx="1177483" cy="94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646"/>
              </a:lnSpc>
            </a:pPr>
            <a:r>
              <a:rPr lang="en-US" b="true" sz="30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S16 - S18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45323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077017" y="5736257"/>
            <a:ext cx="9942178" cy="6489531"/>
          </a:xfrm>
          <a:custGeom>
            <a:avLst/>
            <a:gdLst/>
            <a:ahLst/>
            <a:cxnLst/>
            <a:rect r="r" b="b" t="t" l="l"/>
            <a:pathLst>
              <a:path h="6489531" w="9942178">
                <a:moveTo>
                  <a:pt x="0" y="0"/>
                </a:moveTo>
                <a:lnTo>
                  <a:pt x="9942177" y="0"/>
                </a:lnTo>
                <a:lnTo>
                  <a:pt x="9942177" y="6489531"/>
                </a:lnTo>
                <a:lnTo>
                  <a:pt x="0" y="648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9451" y="3557186"/>
            <a:ext cx="6794549" cy="217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40"/>
              </a:lnSpc>
            </a:pPr>
            <a:r>
              <a:rPr lang="en-US" sz="629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Arqu</a:t>
            </a:r>
            <a:r>
              <a:rPr lang="en-US" sz="629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itectura del Software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483825">
            <a:off x="8644350" y="3242884"/>
            <a:ext cx="999301" cy="1009605"/>
          </a:xfrm>
          <a:custGeom>
            <a:avLst/>
            <a:gdLst/>
            <a:ahLst/>
            <a:cxnLst/>
            <a:rect r="r" b="b" t="t" l="l"/>
            <a:pathLst>
              <a:path h="1009605" w="999301">
                <a:moveTo>
                  <a:pt x="0" y="0"/>
                </a:moveTo>
                <a:lnTo>
                  <a:pt x="999300" y="0"/>
                </a:lnTo>
                <a:lnTo>
                  <a:pt x="999300" y="1009605"/>
                </a:lnTo>
                <a:lnTo>
                  <a:pt x="0" y="10096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78232" y="752964"/>
            <a:ext cx="6781068" cy="8716879"/>
          </a:xfrm>
          <a:custGeom>
            <a:avLst/>
            <a:gdLst/>
            <a:ahLst/>
            <a:cxnLst/>
            <a:rect r="r" b="b" t="t" l="l"/>
            <a:pathLst>
              <a:path h="8716879" w="6781068">
                <a:moveTo>
                  <a:pt x="0" y="0"/>
                </a:moveTo>
                <a:lnTo>
                  <a:pt x="6781068" y="0"/>
                </a:lnTo>
                <a:lnTo>
                  <a:pt x="6781068" y="8716879"/>
                </a:lnTo>
                <a:lnTo>
                  <a:pt x="0" y="8716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22147">
            <a:off x="1928567" y="1283965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93479" y="1191713"/>
            <a:ext cx="12477700" cy="254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5928" spc="-14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Diseño de Base de Datos</a:t>
            </a:r>
          </a:p>
          <a:p>
            <a:pPr algn="ctr" marL="0" indent="0" lvl="0">
              <a:lnSpc>
                <a:spcPts val="11812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222452">
            <a:off x="2943457" y="837796"/>
            <a:ext cx="1021154" cy="1031684"/>
          </a:xfrm>
          <a:custGeom>
            <a:avLst/>
            <a:gdLst/>
            <a:ahLst/>
            <a:cxnLst/>
            <a:rect r="r" b="b" t="t" l="l"/>
            <a:pathLst>
              <a:path h="1031684" w="1021154">
                <a:moveTo>
                  <a:pt x="0" y="0"/>
                </a:moveTo>
                <a:lnTo>
                  <a:pt x="1021154" y="0"/>
                </a:lnTo>
                <a:lnTo>
                  <a:pt x="1021154" y="1031684"/>
                </a:lnTo>
                <a:lnTo>
                  <a:pt x="0" y="1031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81342" y="1507982"/>
            <a:ext cx="725885" cy="786867"/>
          </a:xfrm>
          <a:custGeom>
            <a:avLst/>
            <a:gdLst/>
            <a:ahLst/>
            <a:cxnLst/>
            <a:rect r="r" b="b" t="t" l="l"/>
            <a:pathLst>
              <a:path h="786867" w="725885">
                <a:moveTo>
                  <a:pt x="0" y="0"/>
                </a:moveTo>
                <a:lnTo>
                  <a:pt x="725885" y="0"/>
                </a:lnTo>
                <a:lnTo>
                  <a:pt x="725885" y="786867"/>
                </a:lnTo>
                <a:lnTo>
                  <a:pt x="0" y="786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65702" y="935342"/>
            <a:ext cx="610956" cy="662283"/>
          </a:xfrm>
          <a:custGeom>
            <a:avLst/>
            <a:gdLst/>
            <a:ahLst/>
            <a:cxnLst/>
            <a:rect r="r" b="b" t="t" l="l"/>
            <a:pathLst>
              <a:path h="662283" w="610956">
                <a:moveTo>
                  <a:pt x="0" y="0"/>
                </a:moveTo>
                <a:lnTo>
                  <a:pt x="610956" y="0"/>
                </a:lnTo>
                <a:lnTo>
                  <a:pt x="610956" y="662283"/>
                </a:lnTo>
                <a:lnTo>
                  <a:pt x="0" y="6622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16205" y="2294849"/>
            <a:ext cx="9232249" cy="7089906"/>
          </a:xfrm>
          <a:custGeom>
            <a:avLst/>
            <a:gdLst/>
            <a:ahLst/>
            <a:cxnLst/>
            <a:rect r="r" b="b" t="t" l="l"/>
            <a:pathLst>
              <a:path h="7089906" w="9232249">
                <a:moveTo>
                  <a:pt x="0" y="0"/>
                </a:moveTo>
                <a:lnTo>
                  <a:pt x="9232249" y="0"/>
                </a:lnTo>
                <a:lnTo>
                  <a:pt x="9232249" y="7089906"/>
                </a:lnTo>
                <a:lnTo>
                  <a:pt x="0" y="7089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88912" y="4402562"/>
            <a:ext cx="1347880" cy="134788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2312" y="0"/>
                  </a:moveTo>
                  <a:lnTo>
                    <a:pt x="660488" y="0"/>
                  </a:lnTo>
                  <a:cubicBezTo>
                    <a:pt x="744608" y="0"/>
                    <a:pt x="812800" y="68192"/>
                    <a:pt x="812800" y="152312"/>
                  </a:cubicBezTo>
                  <a:lnTo>
                    <a:pt x="812800" y="660488"/>
                  </a:lnTo>
                  <a:cubicBezTo>
                    <a:pt x="812800" y="744608"/>
                    <a:pt x="744608" y="812800"/>
                    <a:pt x="660488" y="812800"/>
                  </a:cubicBezTo>
                  <a:lnTo>
                    <a:pt x="152312" y="812800"/>
                  </a:lnTo>
                  <a:cubicBezTo>
                    <a:pt x="68192" y="812800"/>
                    <a:pt x="0" y="744608"/>
                    <a:pt x="0" y="660488"/>
                  </a:cubicBezTo>
                  <a:lnTo>
                    <a:pt x="0" y="152312"/>
                  </a:lnTo>
                  <a:cubicBezTo>
                    <a:pt x="0" y="68192"/>
                    <a:pt x="68192" y="0"/>
                    <a:pt x="15231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57580" y="4402562"/>
            <a:ext cx="1347880" cy="134788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2312" y="0"/>
                  </a:moveTo>
                  <a:lnTo>
                    <a:pt x="660488" y="0"/>
                  </a:lnTo>
                  <a:cubicBezTo>
                    <a:pt x="744608" y="0"/>
                    <a:pt x="812800" y="68192"/>
                    <a:pt x="812800" y="152312"/>
                  </a:cubicBezTo>
                  <a:lnTo>
                    <a:pt x="812800" y="660488"/>
                  </a:lnTo>
                  <a:cubicBezTo>
                    <a:pt x="812800" y="744608"/>
                    <a:pt x="744608" y="812800"/>
                    <a:pt x="660488" y="812800"/>
                  </a:cubicBezTo>
                  <a:lnTo>
                    <a:pt x="152312" y="812800"/>
                  </a:lnTo>
                  <a:cubicBezTo>
                    <a:pt x="68192" y="812800"/>
                    <a:pt x="0" y="744608"/>
                    <a:pt x="0" y="660488"/>
                  </a:cubicBezTo>
                  <a:lnTo>
                    <a:pt x="0" y="152312"/>
                  </a:lnTo>
                  <a:cubicBezTo>
                    <a:pt x="0" y="68192"/>
                    <a:pt x="68192" y="0"/>
                    <a:pt x="15231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682142" y="4641241"/>
            <a:ext cx="961422" cy="870524"/>
          </a:xfrm>
          <a:custGeom>
            <a:avLst/>
            <a:gdLst/>
            <a:ahLst/>
            <a:cxnLst/>
            <a:rect r="r" b="b" t="t" l="l"/>
            <a:pathLst>
              <a:path h="870524" w="961422">
                <a:moveTo>
                  <a:pt x="0" y="0"/>
                </a:moveTo>
                <a:lnTo>
                  <a:pt x="961421" y="0"/>
                </a:lnTo>
                <a:lnTo>
                  <a:pt x="961421" y="870523"/>
                </a:lnTo>
                <a:lnTo>
                  <a:pt x="0" y="870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128391" y="4388078"/>
            <a:ext cx="1347880" cy="13478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2312" y="0"/>
                  </a:moveTo>
                  <a:lnTo>
                    <a:pt x="660488" y="0"/>
                  </a:lnTo>
                  <a:cubicBezTo>
                    <a:pt x="744608" y="0"/>
                    <a:pt x="812800" y="68192"/>
                    <a:pt x="812800" y="152312"/>
                  </a:cubicBezTo>
                  <a:lnTo>
                    <a:pt x="812800" y="660488"/>
                  </a:lnTo>
                  <a:cubicBezTo>
                    <a:pt x="812800" y="744608"/>
                    <a:pt x="744608" y="812800"/>
                    <a:pt x="660488" y="812800"/>
                  </a:cubicBezTo>
                  <a:lnTo>
                    <a:pt x="152312" y="812800"/>
                  </a:lnTo>
                  <a:cubicBezTo>
                    <a:pt x="68192" y="812800"/>
                    <a:pt x="0" y="744608"/>
                    <a:pt x="0" y="660488"/>
                  </a:cubicBezTo>
                  <a:lnTo>
                    <a:pt x="0" y="152312"/>
                  </a:lnTo>
                  <a:cubicBezTo>
                    <a:pt x="0" y="68192"/>
                    <a:pt x="68192" y="0"/>
                    <a:pt x="15231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97972" y="4402562"/>
            <a:ext cx="1347880" cy="13478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52312" y="0"/>
                  </a:moveTo>
                  <a:lnTo>
                    <a:pt x="660488" y="0"/>
                  </a:lnTo>
                  <a:cubicBezTo>
                    <a:pt x="744608" y="0"/>
                    <a:pt x="812800" y="68192"/>
                    <a:pt x="812800" y="152312"/>
                  </a:cubicBezTo>
                  <a:lnTo>
                    <a:pt x="812800" y="660488"/>
                  </a:lnTo>
                  <a:cubicBezTo>
                    <a:pt x="812800" y="744608"/>
                    <a:pt x="744608" y="812800"/>
                    <a:pt x="660488" y="812800"/>
                  </a:cubicBezTo>
                  <a:lnTo>
                    <a:pt x="152312" y="812800"/>
                  </a:lnTo>
                  <a:cubicBezTo>
                    <a:pt x="68192" y="812800"/>
                    <a:pt x="0" y="744608"/>
                    <a:pt x="0" y="660488"/>
                  </a:cubicBezTo>
                  <a:lnTo>
                    <a:pt x="0" y="152312"/>
                  </a:lnTo>
                  <a:cubicBezTo>
                    <a:pt x="0" y="68192"/>
                    <a:pt x="68192" y="0"/>
                    <a:pt x="15231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956587" y="4733099"/>
            <a:ext cx="732932" cy="732932"/>
          </a:xfrm>
          <a:custGeom>
            <a:avLst/>
            <a:gdLst/>
            <a:ahLst/>
            <a:cxnLst/>
            <a:rect r="r" b="b" t="t" l="l"/>
            <a:pathLst>
              <a:path h="732932" w="732932">
                <a:moveTo>
                  <a:pt x="0" y="0"/>
                </a:moveTo>
                <a:lnTo>
                  <a:pt x="732933" y="0"/>
                </a:lnTo>
                <a:lnTo>
                  <a:pt x="732933" y="732932"/>
                </a:lnTo>
                <a:lnTo>
                  <a:pt x="0" y="732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379440" y="4655403"/>
            <a:ext cx="842199" cy="842199"/>
          </a:xfrm>
          <a:custGeom>
            <a:avLst/>
            <a:gdLst/>
            <a:ahLst/>
            <a:cxnLst/>
            <a:rect r="r" b="b" t="t" l="l"/>
            <a:pathLst>
              <a:path h="842199" w="842199">
                <a:moveTo>
                  <a:pt x="0" y="0"/>
                </a:moveTo>
                <a:lnTo>
                  <a:pt x="842198" y="0"/>
                </a:lnTo>
                <a:lnTo>
                  <a:pt x="842198" y="842199"/>
                </a:lnTo>
                <a:lnTo>
                  <a:pt x="0" y="84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80816" y="1685827"/>
            <a:ext cx="1224849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61"/>
              </a:lnSpc>
              <a:spcBef>
                <a:spcPct val="0"/>
              </a:spcBef>
            </a:pPr>
            <a:r>
              <a:rPr lang="en-US" sz="7718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Herram</a:t>
            </a:r>
            <a:r>
              <a:rPr lang="en-US" sz="7718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ientas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476271" y="219173"/>
            <a:ext cx="720479" cy="1619054"/>
          </a:xfrm>
          <a:custGeom>
            <a:avLst/>
            <a:gdLst/>
            <a:ahLst/>
            <a:cxnLst/>
            <a:rect r="r" b="b" t="t" l="l"/>
            <a:pathLst>
              <a:path h="1619054" w="720479">
                <a:moveTo>
                  <a:pt x="0" y="0"/>
                </a:moveTo>
                <a:lnTo>
                  <a:pt x="720480" y="0"/>
                </a:lnTo>
                <a:lnTo>
                  <a:pt x="720480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3222147">
            <a:off x="3298021" y="1396224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843755" y="4574252"/>
            <a:ext cx="975532" cy="975532"/>
          </a:xfrm>
          <a:custGeom>
            <a:avLst/>
            <a:gdLst/>
            <a:ahLst/>
            <a:cxnLst/>
            <a:rect r="r" b="b" t="t" l="l"/>
            <a:pathLst>
              <a:path h="975532" w="975532">
                <a:moveTo>
                  <a:pt x="0" y="0"/>
                </a:moveTo>
                <a:lnTo>
                  <a:pt x="975531" y="0"/>
                </a:lnTo>
                <a:lnTo>
                  <a:pt x="975531" y="975532"/>
                </a:lnTo>
                <a:lnTo>
                  <a:pt x="0" y="9755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20704" y="4531236"/>
            <a:ext cx="1102417" cy="1102417"/>
          </a:xfrm>
          <a:custGeom>
            <a:avLst/>
            <a:gdLst/>
            <a:ahLst/>
            <a:cxnLst/>
            <a:rect r="r" b="b" t="t" l="l"/>
            <a:pathLst>
              <a:path h="1102417" w="1102417">
                <a:moveTo>
                  <a:pt x="0" y="0"/>
                </a:moveTo>
                <a:lnTo>
                  <a:pt x="1102417" y="0"/>
                </a:lnTo>
                <a:lnTo>
                  <a:pt x="1102417" y="1102417"/>
                </a:lnTo>
                <a:lnTo>
                  <a:pt x="0" y="11024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618242" y="4538040"/>
            <a:ext cx="1088809" cy="1088809"/>
          </a:xfrm>
          <a:custGeom>
            <a:avLst/>
            <a:gdLst/>
            <a:ahLst/>
            <a:cxnLst/>
            <a:rect r="r" b="b" t="t" l="l"/>
            <a:pathLst>
              <a:path h="1088809" w="1088809">
                <a:moveTo>
                  <a:pt x="0" y="0"/>
                </a:moveTo>
                <a:lnTo>
                  <a:pt x="1088808" y="0"/>
                </a:lnTo>
                <a:lnTo>
                  <a:pt x="1088808" y="1088809"/>
                </a:lnTo>
                <a:lnTo>
                  <a:pt x="0" y="108880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257927" y="4538040"/>
            <a:ext cx="1088809" cy="1088809"/>
          </a:xfrm>
          <a:custGeom>
            <a:avLst/>
            <a:gdLst/>
            <a:ahLst/>
            <a:cxnLst/>
            <a:rect r="r" b="b" t="t" l="l"/>
            <a:pathLst>
              <a:path h="1088809" w="1088809">
                <a:moveTo>
                  <a:pt x="0" y="0"/>
                </a:moveTo>
                <a:lnTo>
                  <a:pt x="1088809" y="0"/>
                </a:lnTo>
                <a:lnTo>
                  <a:pt x="1088809" y="1088809"/>
                </a:lnTo>
                <a:lnTo>
                  <a:pt x="0" y="10888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768861" y="5900353"/>
            <a:ext cx="3125319" cy="69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30" spc="-7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BACKEND Y ARQUITECTURA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71488" y="5900353"/>
            <a:ext cx="3141182" cy="69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3"/>
              </a:lnSpc>
            </a:pPr>
            <a:r>
              <a:rPr lang="en-US" sz="1930" spc="-7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DESARROLLO Y CONTROL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37228" y="6067041"/>
            <a:ext cx="3051249" cy="36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3"/>
              </a:lnSpc>
            </a:pPr>
            <a:r>
              <a:rPr lang="en-US" sz="1930" spc="-7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GESTIÓN Y CALIDAD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23390" y="6067041"/>
            <a:ext cx="3051249" cy="36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3"/>
              </a:lnSpc>
            </a:pPr>
            <a:r>
              <a:rPr lang="en-US" sz="1930" spc="-7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BASE DE DATOS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37228" y="6870736"/>
            <a:ext cx="3095749" cy="162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N</a:t>
            </a: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otion: Planificación de tareas y avances.</a:t>
            </a:r>
          </a:p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Postman: Validación y pruebas de endpoints.</a:t>
            </a:r>
          </a:p>
          <a:p>
            <a:pPr algn="l">
              <a:lnSpc>
                <a:spcPts val="255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694205" y="6870736"/>
            <a:ext cx="3095749" cy="162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</a:t>
            </a: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ursor: Editor asistido por IA para mayor eficiencia.</a:t>
            </a:r>
          </a:p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GitHub: Control de versiones e historial ordenado.</a:t>
            </a:r>
          </a:p>
          <a:p>
            <a:pPr algn="l">
              <a:lnSpc>
                <a:spcPts val="255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768861" y="6870736"/>
            <a:ext cx="3095749" cy="1621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Sp</a:t>
            </a: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ring Boot: Creación de microservicios.</a:t>
            </a:r>
          </a:p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Eureka: Service Discovery para arquitectura modular.</a:t>
            </a:r>
          </a:p>
          <a:p>
            <a:pPr algn="l">
              <a:lnSpc>
                <a:spcPts val="255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423390" y="6870736"/>
            <a:ext cx="3095749" cy="97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99" indent="-183549" lvl="1">
              <a:lnSpc>
                <a:spcPts val="2550"/>
              </a:lnSpc>
              <a:buFont typeface="Arial"/>
              <a:buChar char="•"/>
            </a:pP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P</a:t>
            </a:r>
            <a:r>
              <a:rPr lang="en-US" sz="1700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ostgreSQL: Estabilidad para el módulo de gestión de citas.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23673" y="709529"/>
            <a:ext cx="11640653" cy="100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1"/>
              </a:lnSpc>
            </a:pPr>
            <a:r>
              <a:rPr lang="en-US" sz="5215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DEMOSTRACION DEL SISTEMA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45323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29295" y="500601"/>
            <a:ext cx="9942178" cy="6489531"/>
          </a:xfrm>
          <a:custGeom>
            <a:avLst/>
            <a:gdLst/>
            <a:ahLst/>
            <a:cxnLst/>
            <a:rect r="r" b="b" t="t" l="l"/>
            <a:pathLst>
              <a:path h="6489531" w="9942178">
                <a:moveTo>
                  <a:pt x="0" y="0"/>
                </a:moveTo>
                <a:lnTo>
                  <a:pt x="9942178" y="0"/>
                </a:lnTo>
                <a:lnTo>
                  <a:pt x="9942178" y="6489530"/>
                </a:lnTo>
                <a:lnTo>
                  <a:pt x="0" y="6489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4221" y="847725"/>
            <a:ext cx="11565350" cy="108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7"/>
              </a:lnSpc>
            </a:pPr>
            <a:r>
              <a:rPr lang="en-US" sz="599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R</a:t>
            </a:r>
            <a:r>
              <a:rPr lang="en-US" sz="5990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esultados Obtenidos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483825">
            <a:off x="11194932" y="811243"/>
            <a:ext cx="659488" cy="666288"/>
          </a:xfrm>
          <a:custGeom>
            <a:avLst/>
            <a:gdLst/>
            <a:ahLst/>
            <a:cxnLst/>
            <a:rect r="r" b="b" t="t" l="l"/>
            <a:pathLst>
              <a:path h="666288" w="659488">
                <a:moveTo>
                  <a:pt x="0" y="0"/>
                </a:moveTo>
                <a:lnTo>
                  <a:pt x="659489" y="0"/>
                </a:lnTo>
                <a:lnTo>
                  <a:pt x="659489" y="666289"/>
                </a:lnTo>
                <a:lnTo>
                  <a:pt x="0" y="666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99699" y="3051219"/>
            <a:ext cx="4208655" cy="2008583"/>
            <a:chOff x="0" y="0"/>
            <a:chExt cx="1249231" cy="596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9231" cy="596196"/>
            </a:xfrm>
            <a:custGeom>
              <a:avLst/>
              <a:gdLst/>
              <a:ahLst/>
              <a:cxnLst/>
              <a:rect r="r" b="b" t="t" l="l"/>
              <a:pathLst>
                <a:path h="596196" w="1249231">
                  <a:moveTo>
                    <a:pt x="90137" y="0"/>
                  </a:moveTo>
                  <a:lnTo>
                    <a:pt x="1159095" y="0"/>
                  </a:lnTo>
                  <a:cubicBezTo>
                    <a:pt x="1208876" y="0"/>
                    <a:pt x="1249231" y="40356"/>
                    <a:pt x="1249231" y="90137"/>
                  </a:cubicBezTo>
                  <a:lnTo>
                    <a:pt x="1249231" y="506060"/>
                  </a:lnTo>
                  <a:cubicBezTo>
                    <a:pt x="1249231" y="529965"/>
                    <a:pt x="1239735" y="552892"/>
                    <a:pt x="1222831" y="569796"/>
                  </a:cubicBezTo>
                  <a:cubicBezTo>
                    <a:pt x="1205927" y="586700"/>
                    <a:pt x="1183000" y="596196"/>
                    <a:pt x="1159095" y="596196"/>
                  </a:cubicBezTo>
                  <a:lnTo>
                    <a:pt x="90137" y="596196"/>
                  </a:lnTo>
                  <a:cubicBezTo>
                    <a:pt x="40356" y="596196"/>
                    <a:pt x="0" y="555841"/>
                    <a:pt x="0" y="506060"/>
                  </a:cubicBezTo>
                  <a:lnTo>
                    <a:pt x="0" y="90137"/>
                  </a:lnTo>
                  <a:cubicBezTo>
                    <a:pt x="0" y="40356"/>
                    <a:pt x="40356" y="0"/>
                    <a:pt x="901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49231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80541" y="3181405"/>
            <a:ext cx="3846971" cy="1748211"/>
            <a:chOff x="0" y="0"/>
            <a:chExt cx="1141875" cy="5189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1875" cy="518912"/>
            </a:xfrm>
            <a:custGeom>
              <a:avLst/>
              <a:gdLst/>
              <a:ahLst/>
              <a:cxnLst/>
              <a:rect r="r" b="b" t="t" l="l"/>
              <a:pathLst>
                <a:path h="518912" w="1141875">
                  <a:moveTo>
                    <a:pt x="70437" y="0"/>
                  </a:moveTo>
                  <a:lnTo>
                    <a:pt x="1071438" y="0"/>
                  </a:lnTo>
                  <a:cubicBezTo>
                    <a:pt x="1110339" y="0"/>
                    <a:pt x="1141875" y="31535"/>
                    <a:pt x="1141875" y="70437"/>
                  </a:cubicBezTo>
                  <a:lnTo>
                    <a:pt x="1141875" y="448475"/>
                  </a:lnTo>
                  <a:cubicBezTo>
                    <a:pt x="1141875" y="467156"/>
                    <a:pt x="1134454" y="485072"/>
                    <a:pt x="1121244" y="498281"/>
                  </a:cubicBezTo>
                  <a:cubicBezTo>
                    <a:pt x="1108035" y="511491"/>
                    <a:pt x="1090119" y="518912"/>
                    <a:pt x="1071438" y="518912"/>
                  </a:cubicBezTo>
                  <a:lnTo>
                    <a:pt x="70437" y="518912"/>
                  </a:lnTo>
                  <a:cubicBezTo>
                    <a:pt x="51756" y="518912"/>
                    <a:pt x="33840" y="511491"/>
                    <a:pt x="20630" y="498281"/>
                  </a:cubicBezTo>
                  <a:cubicBezTo>
                    <a:pt x="7421" y="485072"/>
                    <a:pt x="0" y="467156"/>
                    <a:pt x="0" y="448475"/>
                  </a:cubicBezTo>
                  <a:lnTo>
                    <a:pt x="0" y="70437"/>
                  </a:lnTo>
                  <a:cubicBezTo>
                    <a:pt x="0" y="51756"/>
                    <a:pt x="7421" y="33840"/>
                    <a:pt x="20630" y="20630"/>
                  </a:cubicBezTo>
                  <a:cubicBezTo>
                    <a:pt x="33840" y="7421"/>
                    <a:pt x="51756" y="0"/>
                    <a:pt x="70437" y="0"/>
                  </a:cubicBezTo>
                  <a:close/>
                </a:path>
              </a:pathLst>
            </a:custGeom>
            <a:solidFill>
              <a:srgbClr val="4FC1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41875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19166" y="2717343"/>
            <a:ext cx="2969722" cy="667753"/>
            <a:chOff x="0" y="0"/>
            <a:chExt cx="1762971" cy="3964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62971" cy="396411"/>
            </a:xfrm>
            <a:custGeom>
              <a:avLst/>
              <a:gdLst/>
              <a:ahLst/>
              <a:cxnLst/>
              <a:rect r="r" b="b" t="t" l="l"/>
              <a:pathLst>
                <a:path h="396411" w="1762971">
                  <a:moveTo>
                    <a:pt x="62567" y="0"/>
                  </a:moveTo>
                  <a:lnTo>
                    <a:pt x="1700404" y="0"/>
                  </a:lnTo>
                  <a:cubicBezTo>
                    <a:pt x="1716998" y="0"/>
                    <a:pt x="1732912" y="6592"/>
                    <a:pt x="1744646" y="18325"/>
                  </a:cubicBezTo>
                  <a:cubicBezTo>
                    <a:pt x="1756379" y="30059"/>
                    <a:pt x="1762971" y="45973"/>
                    <a:pt x="1762971" y="62567"/>
                  </a:cubicBezTo>
                  <a:lnTo>
                    <a:pt x="1762971" y="333844"/>
                  </a:lnTo>
                  <a:cubicBezTo>
                    <a:pt x="1762971" y="350438"/>
                    <a:pt x="1756379" y="366352"/>
                    <a:pt x="1744646" y="378085"/>
                  </a:cubicBezTo>
                  <a:cubicBezTo>
                    <a:pt x="1732912" y="389819"/>
                    <a:pt x="1716998" y="396411"/>
                    <a:pt x="1700404" y="396411"/>
                  </a:cubicBezTo>
                  <a:lnTo>
                    <a:pt x="62567" y="396411"/>
                  </a:lnTo>
                  <a:cubicBezTo>
                    <a:pt x="45973" y="396411"/>
                    <a:pt x="30059" y="389819"/>
                    <a:pt x="18325" y="378085"/>
                  </a:cubicBezTo>
                  <a:cubicBezTo>
                    <a:pt x="6592" y="366352"/>
                    <a:pt x="0" y="350438"/>
                    <a:pt x="0" y="333844"/>
                  </a:cubicBezTo>
                  <a:lnTo>
                    <a:pt x="0" y="62567"/>
                  </a:lnTo>
                  <a:cubicBezTo>
                    <a:pt x="0" y="45973"/>
                    <a:pt x="6592" y="30059"/>
                    <a:pt x="18325" y="18325"/>
                  </a:cubicBezTo>
                  <a:cubicBezTo>
                    <a:pt x="30059" y="6592"/>
                    <a:pt x="45973" y="0"/>
                    <a:pt x="625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62971" cy="453561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440793" y="3474850"/>
            <a:ext cx="3526468" cy="12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6"/>
              </a:lnSpc>
            </a:pPr>
            <a:r>
              <a:rPr lang="en-US" sz="17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75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igitalización completa del proceso para resolver la falta de organización y trazabilidad en la gestión de citas.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21690" y="2706932"/>
            <a:ext cx="2967198" cy="669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599"/>
              </a:lnSpc>
            </a:pPr>
            <a:r>
              <a:rPr lang="en-US" b="true" sz="21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RESPUESTA AL DESAFÍO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15989" y="3051219"/>
            <a:ext cx="4208655" cy="2008583"/>
            <a:chOff x="0" y="0"/>
            <a:chExt cx="1249231" cy="5961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9231" cy="596196"/>
            </a:xfrm>
            <a:custGeom>
              <a:avLst/>
              <a:gdLst/>
              <a:ahLst/>
              <a:cxnLst/>
              <a:rect r="r" b="b" t="t" l="l"/>
              <a:pathLst>
                <a:path h="596196" w="1249231">
                  <a:moveTo>
                    <a:pt x="90137" y="0"/>
                  </a:moveTo>
                  <a:lnTo>
                    <a:pt x="1159095" y="0"/>
                  </a:lnTo>
                  <a:cubicBezTo>
                    <a:pt x="1208876" y="0"/>
                    <a:pt x="1249231" y="40356"/>
                    <a:pt x="1249231" y="90137"/>
                  </a:cubicBezTo>
                  <a:lnTo>
                    <a:pt x="1249231" y="506060"/>
                  </a:lnTo>
                  <a:cubicBezTo>
                    <a:pt x="1249231" y="529965"/>
                    <a:pt x="1239735" y="552892"/>
                    <a:pt x="1222831" y="569796"/>
                  </a:cubicBezTo>
                  <a:cubicBezTo>
                    <a:pt x="1205927" y="586700"/>
                    <a:pt x="1183000" y="596196"/>
                    <a:pt x="1159095" y="596196"/>
                  </a:cubicBezTo>
                  <a:lnTo>
                    <a:pt x="90137" y="596196"/>
                  </a:lnTo>
                  <a:cubicBezTo>
                    <a:pt x="40356" y="596196"/>
                    <a:pt x="0" y="555841"/>
                    <a:pt x="0" y="506060"/>
                  </a:cubicBezTo>
                  <a:lnTo>
                    <a:pt x="0" y="90137"/>
                  </a:lnTo>
                  <a:cubicBezTo>
                    <a:pt x="0" y="40356"/>
                    <a:pt x="40356" y="0"/>
                    <a:pt x="901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249231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96831" y="3181405"/>
            <a:ext cx="3846971" cy="1748211"/>
            <a:chOff x="0" y="0"/>
            <a:chExt cx="1141875" cy="5189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1875" cy="518912"/>
            </a:xfrm>
            <a:custGeom>
              <a:avLst/>
              <a:gdLst/>
              <a:ahLst/>
              <a:cxnLst/>
              <a:rect r="r" b="b" t="t" l="l"/>
              <a:pathLst>
                <a:path h="518912" w="1141875">
                  <a:moveTo>
                    <a:pt x="70437" y="0"/>
                  </a:moveTo>
                  <a:lnTo>
                    <a:pt x="1071438" y="0"/>
                  </a:lnTo>
                  <a:cubicBezTo>
                    <a:pt x="1110339" y="0"/>
                    <a:pt x="1141875" y="31535"/>
                    <a:pt x="1141875" y="70437"/>
                  </a:cubicBezTo>
                  <a:lnTo>
                    <a:pt x="1141875" y="448475"/>
                  </a:lnTo>
                  <a:cubicBezTo>
                    <a:pt x="1141875" y="467156"/>
                    <a:pt x="1134454" y="485072"/>
                    <a:pt x="1121244" y="498281"/>
                  </a:cubicBezTo>
                  <a:cubicBezTo>
                    <a:pt x="1108035" y="511491"/>
                    <a:pt x="1090119" y="518912"/>
                    <a:pt x="1071438" y="518912"/>
                  </a:cubicBezTo>
                  <a:lnTo>
                    <a:pt x="70437" y="518912"/>
                  </a:lnTo>
                  <a:cubicBezTo>
                    <a:pt x="51756" y="518912"/>
                    <a:pt x="33840" y="511491"/>
                    <a:pt x="20630" y="498281"/>
                  </a:cubicBezTo>
                  <a:cubicBezTo>
                    <a:pt x="7421" y="485072"/>
                    <a:pt x="0" y="467156"/>
                    <a:pt x="0" y="448475"/>
                  </a:cubicBezTo>
                  <a:lnTo>
                    <a:pt x="0" y="70437"/>
                  </a:lnTo>
                  <a:cubicBezTo>
                    <a:pt x="0" y="51756"/>
                    <a:pt x="7421" y="33840"/>
                    <a:pt x="20630" y="20630"/>
                  </a:cubicBezTo>
                  <a:cubicBezTo>
                    <a:pt x="33840" y="7421"/>
                    <a:pt x="51756" y="0"/>
                    <a:pt x="70437" y="0"/>
                  </a:cubicBezTo>
                  <a:close/>
                </a:path>
              </a:pathLst>
            </a:custGeom>
            <a:solidFill>
              <a:srgbClr val="4FC1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41875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35456" y="2717343"/>
            <a:ext cx="2969722" cy="667753"/>
            <a:chOff x="0" y="0"/>
            <a:chExt cx="1762971" cy="3964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2971" cy="396411"/>
            </a:xfrm>
            <a:custGeom>
              <a:avLst/>
              <a:gdLst/>
              <a:ahLst/>
              <a:cxnLst/>
              <a:rect r="r" b="b" t="t" l="l"/>
              <a:pathLst>
                <a:path h="396411" w="1762971">
                  <a:moveTo>
                    <a:pt x="62567" y="0"/>
                  </a:moveTo>
                  <a:lnTo>
                    <a:pt x="1700404" y="0"/>
                  </a:lnTo>
                  <a:cubicBezTo>
                    <a:pt x="1716998" y="0"/>
                    <a:pt x="1732912" y="6592"/>
                    <a:pt x="1744646" y="18325"/>
                  </a:cubicBezTo>
                  <a:cubicBezTo>
                    <a:pt x="1756379" y="30059"/>
                    <a:pt x="1762971" y="45973"/>
                    <a:pt x="1762971" y="62567"/>
                  </a:cubicBezTo>
                  <a:lnTo>
                    <a:pt x="1762971" y="333844"/>
                  </a:lnTo>
                  <a:cubicBezTo>
                    <a:pt x="1762971" y="350438"/>
                    <a:pt x="1756379" y="366352"/>
                    <a:pt x="1744646" y="378085"/>
                  </a:cubicBezTo>
                  <a:cubicBezTo>
                    <a:pt x="1732912" y="389819"/>
                    <a:pt x="1716998" y="396411"/>
                    <a:pt x="1700404" y="396411"/>
                  </a:cubicBezTo>
                  <a:lnTo>
                    <a:pt x="62567" y="396411"/>
                  </a:lnTo>
                  <a:cubicBezTo>
                    <a:pt x="45973" y="396411"/>
                    <a:pt x="30059" y="389819"/>
                    <a:pt x="18325" y="378085"/>
                  </a:cubicBezTo>
                  <a:cubicBezTo>
                    <a:pt x="6592" y="366352"/>
                    <a:pt x="0" y="350438"/>
                    <a:pt x="0" y="333844"/>
                  </a:cubicBezTo>
                  <a:lnTo>
                    <a:pt x="0" y="62567"/>
                  </a:lnTo>
                  <a:cubicBezTo>
                    <a:pt x="0" y="45973"/>
                    <a:pt x="6592" y="30059"/>
                    <a:pt x="18325" y="18325"/>
                  </a:cubicBezTo>
                  <a:cubicBezTo>
                    <a:pt x="30059" y="6592"/>
                    <a:pt x="45973" y="0"/>
                    <a:pt x="625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762971" cy="453561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057083" y="3474850"/>
            <a:ext cx="3526468" cy="12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6"/>
              </a:lnSpc>
            </a:pPr>
            <a:r>
              <a:rPr lang="en-US" sz="17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US" sz="175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ministración centralizada de horarios y servicios, con visualización clara en calendario.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37980" y="2716521"/>
            <a:ext cx="2967198" cy="65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80"/>
              </a:lnSpc>
            </a:pPr>
            <a:r>
              <a:rPr lang="en-US" b="true" sz="20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OPTIMIZACIÓN PARA EL TERAPEUTA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099699" y="6069080"/>
            <a:ext cx="4208655" cy="2008583"/>
            <a:chOff x="0" y="0"/>
            <a:chExt cx="1249231" cy="5961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9231" cy="596196"/>
            </a:xfrm>
            <a:custGeom>
              <a:avLst/>
              <a:gdLst/>
              <a:ahLst/>
              <a:cxnLst/>
              <a:rect r="r" b="b" t="t" l="l"/>
              <a:pathLst>
                <a:path h="596196" w="1249231">
                  <a:moveTo>
                    <a:pt x="90137" y="0"/>
                  </a:moveTo>
                  <a:lnTo>
                    <a:pt x="1159095" y="0"/>
                  </a:lnTo>
                  <a:cubicBezTo>
                    <a:pt x="1208876" y="0"/>
                    <a:pt x="1249231" y="40356"/>
                    <a:pt x="1249231" y="90137"/>
                  </a:cubicBezTo>
                  <a:lnTo>
                    <a:pt x="1249231" y="506060"/>
                  </a:lnTo>
                  <a:cubicBezTo>
                    <a:pt x="1249231" y="529965"/>
                    <a:pt x="1239735" y="552892"/>
                    <a:pt x="1222831" y="569796"/>
                  </a:cubicBezTo>
                  <a:cubicBezTo>
                    <a:pt x="1205927" y="586700"/>
                    <a:pt x="1183000" y="596196"/>
                    <a:pt x="1159095" y="596196"/>
                  </a:cubicBezTo>
                  <a:lnTo>
                    <a:pt x="90137" y="596196"/>
                  </a:lnTo>
                  <a:cubicBezTo>
                    <a:pt x="40356" y="596196"/>
                    <a:pt x="0" y="555841"/>
                    <a:pt x="0" y="506060"/>
                  </a:cubicBezTo>
                  <a:lnTo>
                    <a:pt x="0" y="90137"/>
                  </a:lnTo>
                  <a:cubicBezTo>
                    <a:pt x="0" y="40356"/>
                    <a:pt x="40356" y="0"/>
                    <a:pt x="901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249231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280541" y="6199266"/>
            <a:ext cx="3846971" cy="1748211"/>
            <a:chOff x="0" y="0"/>
            <a:chExt cx="1141875" cy="5189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1875" cy="518912"/>
            </a:xfrm>
            <a:custGeom>
              <a:avLst/>
              <a:gdLst/>
              <a:ahLst/>
              <a:cxnLst/>
              <a:rect r="r" b="b" t="t" l="l"/>
              <a:pathLst>
                <a:path h="518912" w="1141875">
                  <a:moveTo>
                    <a:pt x="70437" y="0"/>
                  </a:moveTo>
                  <a:lnTo>
                    <a:pt x="1071438" y="0"/>
                  </a:lnTo>
                  <a:cubicBezTo>
                    <a:pt x="1110339" y="0"/>
                    <a:pt x="1141875" y="31535"/>
                    <a:pt x="1141875" y="70437"/>
                  </a:cubicBezTo>
                  <a:lnTo>
                    <a:pt x="1141875" y="448475"/>
                  </a:lnTo>
                  <a:cubicBezTo>
                    <a:pt x="1141875" y="467156"/>
                    <a:pt x="1134454" y="485072"/>
                    <a:pt x="1121244" y="498281"/>
                  </a:cubicBezTo>
                  <a:cubicBezTo>
                    <a:pt x="1108035" y="511491"/>
                    <a:pt x="1090119" y="518912"/>
                    <a:pt x="1071438" y="518912"/>
                  </a:cubicBezTo>
                  <a:lnTo>
                    <a:pt x="70437" y="518912"/>
                  </a:lnTo>
                  <a:cubicBezTo>
                    <a:pt x="51756" y="518912"/>
                    <a:pt x="33840" y="511491"/>
                    <a:pt x="20630" y="498281"/>
                  </a:cubicBezTo>
                  <a:cubicBezTo>
                    <a:pt x="7421" y="485072"/>
                    <a:pt x="0" y="467156"/>
                    <a:pt x="0" y="448475"/>
                  </a:cubicBezTo>
                  <a:lnTo>
                    <a:pt x="0" y="70437"/>
                  </a:lnTo>
                  <a:cubicBezTo>
                    <a:pt x="0" y="51756"/>
                    <a:pt x="7421" y="33840"/>
                    <a:pt x="20630" y="20630"/>
                  </a:cubicBezTo>
                  <a:cubicBezTo>
                    <a:pt x="33840" y="7421"/>
                    <a:pt x="51756" y="0"/>
                    <a:pt x="70437" y="0"/>
                  </a:cubicBezTo>
                  <a:close/>
                </a:path>
              </a:pathLst>
            </a:custGeom>
            <a:solidFill>
              <a:srgbClr val="4FC1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41875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19166" y="5735204"/>
            <a:ext cx="2969722" cy="667753"/>
            <a:chOff x="0" y="0"/>
            <a:chExt cx="1762971" cy="3964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62971" cy="396411"/>
            </a:xfrm>
            <a:custGeom>
              <a:avLst/>
              <a:gdLst/>
              <a:ahLst/>
              <a:cxnLst/>
              <a:rect r="r" b="b" t="t" l="l"/>
              <a:pathLst>
                <a:path h="396411" w="1762971">
                  <a:moveTo>
                    <a:pt x="62567" y="0"/>
                  </a:moveTo>
                  <a:lnTo>
                    <a:pt x="1700404" y="0"/>
                  </a:lnTo>
                  <a:cubicBezTo>
                    <a:pt x="1716998" y="0"/>
                    <a:pt x="1732912" y="6592"/>
                    <a:pt x="1744646" y="18325"/>
                  </a:cubicBezTo>
                  <a:cubicBezTo>
                    <a:pt x="1756379" y="30059"/>
                    <a:pt x="1762971" y="45973"/>
                    <a:pt x="1762971" y="62567"/>
                  </a:cubicBezTo>
                  <a:lnTo>
                    <a:pt x="1762971" y="333844"/>
                  </a:lnTo>
                  <a:cubicBezTo>
                    <a:pt x="1762971" y="350438"/>
                    <a:pt x="1756379" y="366352"/>
                    <a:pt x="1744646" y="378085"/>
                  </a:cubicBezTo>
                  <a:cubicBezTo>
                    <a:pt x="1732912" y="389819"/>
                    <a:pt x="1716998" y="396411"/>
                    <a:pt x="1700404" y="396411"/>
                  </a:cubicBezTo>
                  <a:lnTo>
                    <a:pt x="62567" y="396411"/>
                  </a:lnTo>
                  <a:cubicBezTo>
                    <a:pt x="45973" y="396411"/>
                    <a:pt x="30059" y="389819"/>
                    <a:pt x="18325" y="378085"/>
                  </a:cubicBezTo>
                  <a:cubicBezTo>
                    <a:pt x="6592" y="366352"/>
                    <a:pt x="0" y="350438"/>
                    <a:pt x="0" y="333844"/>
                  </a:cubicBezTo>
                  <a:lnTo>
                    <a:pt x="0" y="62567"/>
                  </a:lnTo>
                  <a:cubicBezTo>
                    <a:pt x="0" y="45973"/>
                    <a:pt x="6592" y="30059"/>
                    <a:pt x="18325" y="18325"/>
                  </a:cubicBezTo>
                  <a:cubicBezTo>
                    <a:pt x="30059" y="6592"/>
                    <a:pt x="45973" y="0"/>
                    <a:pt x="625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762971" cy="453561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4440793" y="6492711"/>
            <a:ext cx="3526468" cy="12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6"/>
              </a:lnSpc>
            </a:pPr>
            <a:r>
              <a:rPr lang="en-US" sz="17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</a:t>
            </a:r>
            <a:r>
              <a:rPr lang="en-US" sz="175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eso a una interfaz propia para revisar el historial de atenciones, evitando confusiones.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21690" y="5820424"/>
            <a:ext cx="2967198" cy="48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885"/>
              </a:lnSpc>
            </a:pPr>
            <a:r>
              <a:rPr lang="en-US" b="true" sz="15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MEJORA EN LA EXPERIENCIA DEL PACIENTE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715989" y="6069080"/>
            <a:ext cx="4208655" cy="2008583"/>
            <a:chOff x="0" y="0"/>
            <a:chExt cx="1249231" cy="5961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49231" cy="596196"/>
            </a:xfrm>
            <a:custGeom>
              <a:avLst/>
              <a:gdLst/>
              <a:ahLst/>
              <a:cxnLst/>
              <a:rect r="r" b="b" t="t" l="l"/>
              <a:pathLst>
                <a:path h="596196" w="1249231">
                  <a:moveTo>
                    <a:pt x="90137" y="0"/>
                  </a:moveTo>
                  <a:lnTo>
                    <a:pt x="1159095" y="0"/>
                  </a:lnTo>
                  <a:cubicBezTo>
                    <a:pt x="1208876" y="0"/>
                    <a:pt x="1249231" y="40356"/>
                    <a:pt x="1249231" y="90137"/>
                  </a:cubicBezTo>
                  <a:lnTo>
                    <a:pt x="1249231" y="506060"/>
                  </a:lnTo>
                  <a:cubicBezTo>
                    <a:pt x="1249231" y="529965"/>
                    <a:pt x="1239735" y="552892"/>
                    <a:pt x="1222831" y="569796"/>
                  </a:cubicBezTo>
                  <a:cubicBezTo>
                    <a:pt x="1205927" y="586700"/>
                    <a:pt x="1183000" y="596196"/>
                    <a:pt x="1159095" y="596196"/>
                  </a:cubicBezTo>
                  <a:lnTo>
                    <a:pt x="90137" y="596196"/>
                  </a:lnTo>
                  <a:cubicBezTo>
                    <a:pt x="40356" y="596196"/>
                    <a:pt x="0" y="555841"/>
                    <a:pt x="0" y="506060"/>
                  </a:cubicBezTo>
                  <a:lnTo>
                    <a:pt x="0" y="90137"/>
                  </a:lnTo>
                  <a:cubicBezTo>
                    <a:pt x="0" y="40356"/>
                    <a:pt x="40356" y="0"/>
                    <a:pt x="901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249231" cy="653346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896831" y="6199266"/>
            <a:ext cx="3846971" cy="1748211"/>
            <a:chOff x="0" y="0"/>
            <a:chExt cx="1141875" cy="5189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1875" cy="518912"/>
            </a:xfrm>
            <a:custGeom>
              <a:avLst/>
              <a:gdLst/>
              <a:ahLst/>
              <a:cxnLst/>
              <a:rect r="r" b="b" t="t" l="l"/>
              <a:pathLst>
                <a:path h="518912" w="1141875">
                  <a:moveTo>
                    <a:pt x="70437" y="0"/>
                  </a:moveTo>
                  <a:lnTo>
                    <a:pt x="1071438" y="0"/>
                  </a:lnTo>
                  <a:cubicBezTo>
                    <a:pt x="1110339" y="0"/>
                    <a:pt x="1141875" y="31535"/>
                    <a:pt x="1141875" y="70437"/>
                  </a:cubicBezTo>
                  <a:lnTo>
                    <a:pt x="1141875" y="448475"/>
                  </a:lnTo>
                  <a:cubicBezTo>
                    <a:pt x="1141875" y="467156"/>
                    <a:pt x="1134454" y="485072"/>
                    <a:pt x="1121244" y="498281"/>
                  </a:cubicBezTo>
                  <a:cubicBezTo>
                    <a:pt x="1108035" y="511491"/>
                    <a:pt x="1090119" y="518912"/>
                    <a:pt x="1071438" y="518912"/>
                  </a:cubicBezTo>
                  <a:lnTo>
                    <a:pt x="70437" y="518912"/>
                  </a:lnTo>
                  <a:cubicBezTo>
                    <a:pt x="51756" y="518912"/>
                    <a:pt x="33840" y="511491"/>
                    <a:pt x="20630" y="498281"/>
                  </a:cubicBezTo>
                  <a:cubicBezTo>
                    <a:pt x="7421" y="485072"/>
                    <a:pt x="0" y="467156"/>
                    <a:pt x="0" y="448475"/>
                  </a:cubicBezTo>
                  <a:lnTo>
                    <a:pt x="0" y="70437"/>
                  </a:lnTo>
                  <a:cubicBezTo>
                    <a:pt x="0" y="51756"/>
                    <a:pt x="7421" y="33840"/>
                    <a:pt x="20630" y="20630"/>
                  </a:cubicBezTo>
                  <a:cubicBezTo>
                    <a:pt x="33840" y="7421"/>
                    <a:pt x="51756" y="0"/>
                    <a:pt x="70437" y="0"/>
                  </a:cubicBezTo>
                  <a:close/>
                </a:path>
              </a:pathLst>
            </a:custGeom>
            <a:solidFill>
              <a:srgbClr val="4FC1E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141875" cy="576062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35456" y="5735204"/>
            <a:ext cx="2969722" cy="667753"/>
            <a:chOff x="0" y="0"/>
            <a:chExt cx="1762971" cy="3964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62971" cy="396411"/>
            </a:xfrm>
            <a:custGeom>
              <a:avLst/>
              <a:gdLst/>
              <a:ahLst/>
              <a:cxnLst/>
              <a:rect r="r" b="b" t="t" l="l"/>
              <a:pathLst>
                <a:path h="396411" w="1762971">
                  <a:moveTo>
                    <a:pt x="62567" y="0"/>
                  </a:moveTo>
                  <a:lnTo>
                    <a:pt x="1700404" y="0"/>
                  </a:lnTo>
                  <a:cubicBezTo>
                    <a:pt x="1716998" y="0"/>
                    <a:pt x="1732912" y="6592"/>
                    <a:pt x="1744646" y="18325"/>
                  </a:cubicBezTo>
                  <a:cubicBezTo>
                    <a:pt x="1756379" y="30059"/>
                    <a:pt x="1762971" y="45973"/>
                    <a:pt x="1762971" y="62567"/>
                  </a:cubicBezTo>
                  <a:lnTo>
                    <a:pt x="1762971" y="333844"/>
                  </a:lnTo>
                  <a:cubicBezTo>
                    <a:pt x="1762971" y="350438"/>
                    <a:pt x="1756379" y="366352"/>
                    <a:pt x="1744646" y="378085"/>
                  </a:cubicBezTo>
                  <a:cubicBezTo>
                    <a:pt x="1732912" y="389819"/>
                    <a:pt x="1716998" y="396411"/>
                    <a:pt x="1700404" y="396411"/>
                  </a:cubicBezTo>
                  <a:lnTo>
                    <a:pt x="62567" y="396411"/>
                  </a:lnTo>
                  <a:cubicBezTo>
                    <a:pt x="45973" y="396411"/>
                    <a:pt x="30059" y="389819"/>
                    <a:pt x="18325" y="378085"/>
                  </a:cubicBezTo>
                  <a:cubicBezTo>
                    <a:pt x="6592" y="366352"/>
                    <a:pt x="0" y="350438"/>
                    <a:pt x="0" y="333844"/>
                  </a:cubicBezTo>
                  <a:lnTo>
                    <a:pt x="0" y="62567"/>
                  </a:lnTo>
                  <a:cubicBezTo>
                    <a:pt x="0" y="45973"/>
                    <a:pt x="6592" y="30059"/>
                    <a:pt x="18325" y="18325"/>
                  </a:cubicBezTo>
                  <a:cubicBezTo>
                    <a:pt x="30059" y="6592"/>
                    <a:pt x="45973" y="0"/>
                    <a:pt x="625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762971" cy="453561"/>
            </a:xfrm>
            <a:prstGeom prst="rect">
              <a:avLst/>
            </a:prstGeom>
          </p:spPr>
          <p:txBody>
            <a:bodyPr anchor="ctr" rtlCol="false" tIns="58808" lIns="58808" bIns="58808" rIns="588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057083" y="6492711"/>
            <a:ext cx="3526468" cy="122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06"/>
              </a:lnSpc>
            </a:pPr>
            <a:r>
              <a:rPr lang="en-US" sz="17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756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mplementación de control de concurrencia que elimina las dobles reservas y reduce errores operativos.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337980" y="5886718"/>
            <a:ext cx="2967198" cy="345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599"/>
              </a:lnSpc>
            </a:pPr>
            <a:r>
              <a:rPr lang="en-US" b="true" sz="21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EFICIENCIA TÉCNICA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48694" y="1978404"/>
            <a:ext cx="5685663" cy="6330191"/>
          </a:xfrm>
          <a:custGeom>
            <a:avLst/>
            <a:gdLst/>
            <a:ahLst/>
            <a:cxnLst/>
            <a:rect r="r" b="b" t="t" l="l"/>
            <a:pathLst>
              <a:path h="6330191" w="5685663">
                <a:moveTo>
                  <a:pt x="0" y="0"/>
                </a:moveTo>
                <a:lnTo>
                  <a:pt x="5685663" y="0"/>
                </a:lnTo>
                <a:lnTo>
                  <a:pt x="5685663" y="6330192"/>
                </a:lnTo>
                <a:lnTo>
                  <a:pt x="0" y="6330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46581" y="1025792"/>
            <a:ext cx="9151997" cy="151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3"/>
              </a:lnSpc>
            </a:pPr>
            <a:r>
              <a:rPr lang="en-US" sz="4276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Obstáculos y Lecciones Aprendidas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2808" y="3649033"/>
            <a:ext cx="8255785" cy="232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5411" indent="-192705" lvl="1">
              <a:lnSpc>
                <a:spcPts val="2677"/>
              </a:lnSpc>
              <a:buFont typeface="Arial"/>
              <a:buChar char="•"/>
            </a:pP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Ti</a:t>
            </a: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empo acotado: Obligó a tomar decisiones estratégicas de alcance y arquitectura (como centralizar la base de datos) para mantener el ritmo.</a:t>
            </a:r>
          </a:p>
          <a:p>
            <a:pPr algn="just" marL="385411" indent="-192705" lvl="1">
              <a:lnSpc>
                <a:spcPts val="2677"/>
              </a:lnSpc>
              <a:buFont typeface="Arial"/>
              <a:buChar char="•"/>
            </a:pP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Control de concurrencia: Reto técnico complejo para evitar "dobles reservas" y asegurar la integridad de los datos.</a:t>
            </a:r>
          </a:p>
          <a:p>
            <a:pPr algn="just" marL="385411" indent="-192705" lvl="1">
              <a:lnSpc>
                <a:spcPts val="2677"/>
              </a:lnSpc>
              <a:buFont typeface="Arial"/>
              <a:buChar char="•"/>
            </a:pP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Coordinación entre microservicios: Dificultades en la orquestación y comunicación eficiente entre los distintos servicios del backend.</a:t>
            </a:r>
          </a:p>
          <a:p>
            <a:pPr algn="just">
              <a:lnSpc>
                <a:spcPts val="26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352808" y="2904251"/>
            <a:ext cx="8255785" cy="56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2"/>
              </a:lnSpc>
              <a:spcBef>
                <a:spcPct val="0"/>
              </a:spcBef>
            </a:pPr>
            <a:r>
              <a:rPr lang="en-US" sz="3258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01. Principales Obstáculos Enfrentados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52808" y="6710150"/>
            <a:ext cx="8255785" cy="232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5412" indent="-192706" lvl="1">
              <a:lnSpc>
                <a:spcPts val="2677"/>
              </a:lnSpc>
              <a:buFont typeface="Arial"/>
              <a:buChar char="•"/>
            </a:pP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Pri</a:t>
            </a: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orización inteligente: Es vital para avanzar con recursos limitados sin sacrificar la calidad del producto.</a:t>
            </a:r>
          </a:p>
          <a:p>
            <a:pPr algn="just" marL="385412" indent="-192706" lvl="1">
              <a:lnSpc>
                <a:spcPts val="2677"/>
              </a:lnSpc>
              <a:buFont typeface="Arial"/>
              <a:buChar char="•"/>
            </a:pP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Validación rigurosa: Es indispensable probar a fondo la lógica de negocio (usando Postman) antes de la integración con el frontend.</a:t>
            </a:r>
          </a:p>
          <a:p>
            <a:pPr algn="just" marL="385412" indent="-192706" lvl="1">
              <a:lnSpc>
                <a:spcPts val="2677"/>
              </a:lnSpc>
              <a:buFont typeface="Arial"/>
              <a:buChar char="•"/>
            </a:pPr>
            <a:r>
              <a:rPr lang="en-US" sz="17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Importancia de la arquitectura: Un diseño ordenado y documentado desde el inicio facilita enormemente la coordinación y el escalado futuro.</a:t>
            </a:r>
          </a:p>
          <a:p>
            <a:pPr algn="just">
              <a:lnSpc>
                <a:spcPts val="267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352808" y="6059500"/>
            <a:ext cx="8345769" cy="56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2"/>
              </a:lnSpc>
              <a:spcBef>
                <a:spcPct val="0"/>
              </a:spcBef>
            </a:pPr>
            <a:r>
              <a:rPr lang="en-US" sz="3258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02. Lecciones Clave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88454" y="242305"/>
            <a:ext cx="720479" cy="1619054"/>
          </a:xfrm>
          <a:custGeom>
            <a:avLst/>
            <a:gdLst/>
            <a:ahLst/>
            <a:cxnLst/>
            <a:rect r="r" b="b" t="t" l="l"/>
            <a:pathLst>
              <a:path h="1619054" w="720479">
                <a:moveTo>
                  <a:pt x="0" y="0"/>
                </a:moveTo>
                <a:lnTo>
                  <a:pt x="720480" y="0"/>
                </a:lnTo>
                <a:lnTo>
                  <a:pt x="720480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B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821983" y="4128762"/>
            <a:ext cx="10500648" cy="6854059"/>
          </a:xfrm>
          <a:custGeom>
            <a:avLst/>
            <a:gdLst/>
            <a:ahLst/>
            <a:cxnLst/>
            <a:rect r="r" b="b" t="t" l="l"/>
            <a:pathLst>
              <a:path h="6854059" w="10500648">
                <a:moveTo>
                  <a:pt x="0" y="0"/>
                </a:moveTo>
                <a:lnTo>
                  <a:pt x="10500647" y="0"/>
                </a:lnTo>
                <a:lnTo>
                  <a:pt x="10500647" y="6854059"/>
                </a:lnTo>
                <a:lnTo>
                  <a:pt x="0" y="6854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2118" y="3228437"/>
            <a:ext cx="11943764" cy="187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51"/>
              </a:lnSpc>
            </a:pPr>
            <a:r>
              <a:rPr lang="en-US" sz="12527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MUCHAS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41650" y="346982"/>
            <a:ext cx="9942178" cy="6489531"/>
          </a:xfrm>
          <a:custGeom>
            <a:avLst/>
            <a:gdLst/>
            <a:ahLst/>
            <a:cxnLst/>
            <a:rect r="r" b="b" t="t" l="l"/>
            <a:pathLst>
              <a:path h="6489531" w="9942178">
                <a:moveTo>
                  <a:pt x="0" y="0"/>
                </a:moveTo>
                <a:lnTo>
                  <a:pt x="9942178" y="0"/>
                </a:lnTo>
                <a:lnTo>
                  <a:pt x="9942178" y="6489531"/>
                </a:lnTo>
                <a:lnTo>
                  <a:pt x="0" y="648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2162" y="214313"/>
            <a:ext cx="827074" cy="1858594"/>
          </a:xfrm>
          <a:custGeom>
            <a:avLst/>
            <a:gdLst/>
            <a:ahLst/>
            <a:cxnLst/>
            <a:rect r="r" b="b" t="t" l="l"/>
            <a:pathLst>
              <a:path h="1858594" w="827074">
                <a:moveTo>
                  <a:pt x="0" y="0"/>
                </a:moveTo>
                <a:lnTo>
                  <a:pt x="827075" y="0"/>
                </a:lnTo>
                <a:lnTo>
                  <a:pt x="827075" y="1858594"/>
                </a:lnTo>
                <a:lnTo>
                  <a:pt x="0" y="185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935342">
            <a:off x="15277174" y="6801731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483638">
            <a:off x="8366303" y="1722871"/>
            <a:ext cx="1555394" cy="1571433"/>
          </a:xfrm>
          <a:custGeom>
            <a:avLst/>
            <a:gdLst/>
            <a:ahLst/>
            <a:cxnLst/>
            <a:rect r="r" b="b" t="t" l="l"/>
            <a:pathLst>
              <a:path h="1571433" w="1555394">
                <a:moveTo>
                  <a:pt x="0" y="0"/>
                </a:moveTo>
                <a:lnTo>
                  <a:pt x="1555394" y="0"/>
                </a:lnTo>
                <a:lnTo>
                  <a:pt x="1555394" y="1571433"/>
                </a:lnTo>
                <a:lnTo>
                  <a:pt x="0" y="1571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0511" b="-8911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49197" y="5229833"/>
            <a:ext cx="9976820" cy="2131480"/>
            <a:chOff x="0" y="0"/>
            <a:chExt cx="2411803" cy="5152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1804" cy="515266"/>
            </a:xfrm>
            <a:custGeom>
              <a:avLst/>
              <a:gdLst/>
              <a:ahLst/>
              <a:cxnLst/>
              <a:rect r="r" b="b" t="t" l="l"/>
              <a:pathLst>
                <a:path h="515266" w="2411804">
                  <a:moveTo>
                    <a:pt x="9312" y="0"/>
                  </a:moveTo>
                  <a:lnTo>
                    <a:pt x="2402492" y="0"/>
                  </a:lnTo>
                  <a:cubicBezTo>
                    <a:pt x="2404961" y="0"/>
                    <a:pt x="2407330" y="981"/>
                    <a:pt x="2409076" y="2727"/>
                  </a:cubicBezTo>
                  <a:cubicBezTo>
                    <a:pt x="2410822" y="4474"/>
                    <a:pt x="2411804" y="6842"/>
                    <a:pt x="2411804" y="9312"/>
                  </a:cubicBezTo>
                  <a:lnTo>
                    <a:pt x="2411804" y="505954"/>
                  </a:lnTo>
                  <a:cubicBezTo>
                    <a:pt x="2411804" y="511096"/>
                    <a:pt x="2407634" y="515266"/>
                    <a:pt x="2402492" y="515266"/>
                  </a:cubicBezTo>
                  <a:lnTo>
                    <a:pt x="9312" y="515266"/>
                  </a:lnTo>
                  <a:cubicBezTo>
                    <a:pt x="4169" y="515266"/>
                    <a:pt x="0" y="511096"/>
                    <a:pt x="0" y="505954"/>
                  </a:cubicBezTo>
                  <a:lnTo>
                    <a:pt x="0" y="9312"/>
                  </a:lnTo>
                  <a:cubicBezTo>
                    <a:pt x="0" y="4169"/>
                    <a:pt x="4169" y="0"/>
                    <a:pt x="9312" y="0"/>
                  </a:cubicBezTo>
                  <a:close/>
                </a:path>
              </a:pathLst>
            </a:custGeom>
            <a:solidFill>
              <a:srgbClr val="70B2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411803" cy="60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814877" y="3087777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46471" y="5404742"/>
            <a:ext cx="9782272" cy="187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51"/>
              </a:lnSpc>
            </a:pPr>
            <a:r>
              <a:rPr lang="en-US" sz="12527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GRACIAS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760149" y="1929397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DAGyJnyA4ss</dc:identifier>
  <dcterms:modified xsi:type="dcterms:W3CDTF">2011-08-01T06:04:30Z</dcterms:modified>
  <cp:revision>1</cp:revision>
  <dc:title>Presentación Final del proyecto (Español)</dc:title>
</cp:coreProperties>
</file>